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IoT Intrusion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D68F"/>
                </a:solidFill>
                <a:latin typeface="Calibri"/>
              </a:rPr>
              <a:t>with Real-Time Drift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556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5D0DC"/>
                </a:solidFill>
                <a:latin typeface="Calibri"/>
              </a:rPr>
              <a:t>Multi-class ML system  ·  9 attack families  ·  CICIoT2023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68F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07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Attack Classes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228600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233172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6DB"/>
                </a:solidFill>
                <a:latin typeface="Calibri"/>
              </a:rPr>
              <a:t>7.8M+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07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Raw Flows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28600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33172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A500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07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Models Trained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228600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233172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498DB"/>
                </a:solidFill>
                <a:latin typeface="Calibri"/>
              </a:rPr>
              <a:t>0.830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907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Best Macro-F1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1508760" cy="274320"/>
          </a:xfrm>
          <a:prstGeom prst="rect">
            <a:avLst/>
          </a:prstGeom>
          <a:solidFill>
            <a:srgbClr val="1A2D44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5204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0DC"/>
                </a:solidFill>
                <a:latin typeface="Calibri"/>
              </a:rPr>
              <a:t>FastAPI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21408" y="3520440"/>
            <a:ext cx="1508760" cy="274320"/>
          </a:xfrm>
          <a:prstGeom prst="rect">
            <a:avLst/>
          </a:prstGeom>
          <a:solidFill>
            <a:srgbClr val="1A2D44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21408" y="35204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0DC"/>
                </a:solidFill>
                <a:latin typeface="Calibri"/>
              </a:rPr>
              <a:t>Docker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5616" y="3520440"/>
            <a:ext cx="1508760" cy="274320"/>
          </a:xfrm>
          <a:prstGeom prst="rect">
            <a:avLst/>
          </a:prstGeom>
          <a:solidFill>
            <a:srgbClr val="1A2D44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85616" y="35204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0DC"/>
                </a:solidFill>
                <a:latin typeface="Calibri"/>
              </a:rPr>
              <a:t>LightGBM 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9824" y="3520440"/>
            <a:ext cx="1508760" cy="274320"/>
          </a:xfrm>
          <a:prstGeom prst="rect">
            <a:avLst/>
          </a:prstGeom>
          <a:solidFill>
            <a:srgbClr val="1A2D44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49824" y="35204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0DC"/>
                </a:solidFill>
                <a:latin typeface="Calibri"/>
              </a:rPr>
              <a:t>PyTorch MLP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14032" y="3520440"/>
            <a:ext cx="1508760" cy="274320"/>
          </a:xfrm>
          <a:prstGeom prst="rect">
            <a:avLst/>
          </a:prstGeom>
          <a:solidFill>
            <a:srgbClr val="1A2D44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14032" y="35204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0DC"/>
                </a:solidFill>
                <a:latin typeface="Calibri"/>
              </a:rPr>
              <a:t>KS Drift Test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864608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E94"/>
                </a:solidFill>
                <a:latin typeface="Calibri"/>
              </a:rPr>
              <a:t>CICIoT2023 · University of New Brunswick  |  Macro-F1 as primary metric (class imbalance)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 — IoT Networks Under Attack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33 raw attack types → 9 families  ·  7.8M+ labeled flows  ·  extreme class imbalance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4023360" cy="356616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4864" cy="35661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757"/>
                </a:solidFill>
                <a:latin typeface="Calibr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3657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▸"/>
            </a:pPr>
            <a:r>
              <a:rPr sz="1100">
                <a:solidFill>
                  <a:srgbClr val="C5D0DC"/>
                </a:solidFill>
                <a:latin typeface="Calibri"/>
              </a:rPr>
              <a:t>Smart TVs, cameras, sensors — billions of devices with zero built-in security</a:t>
            </a:r>
          </a:p>
          <a:p>
            <a:pPr>
              <a:spcBef>
                <a:spcPts val="300"/>
              </a:spcBef>
              <a:buChar char="▸"/>
            </a:pPr>
            <a:r>
              <a:rPr sz="1100">
                <a:solidFill>
                  <a:srgbClr val="C5D0DC"/>
                </a:solidFill>
                <a:latin typeface="Calibri"/>
              </a:rPr>
              <a:t>Attackers exploit them for DDoS, botnet C2, and lateral movement</a:t>
            </a:r>
          </a:p>
          <a:p>
            <a:pPr>
              <a:spcBef>
                <a:spcPts val="300"/>
              </a:spcBef>
              <a:buChar char="▸"/>
            </a:pPr>
            <a:r>
              <a:rPr sz="1100">
                <a:solidFill>
                  <a:srgbClr val="C5D0DC"/>
                </a:solidFill>
                <a:latin typeface="Calibri"/>
              </a:rPr>
              <a:t>Traditional signature-based IDS fails on novel attack patterns</a:t>
            </a:r>
          </a:p>
          <a:p>
            <a:pPr>
              <a:spcBef>
                <a:spcPts val="300"/>
              </a:spcBef>
              <a:buChar char="▸"/>
            </a:pPr>
            <a:r>
              <a:rPr sz="1100">
                <a:solidFill>
                  <a:srgbClr val="C5D0DC"/>
                </a:solidFill>
                <a:latin typeface="Calibri"/>
              </a:rPr>
              <a:t>Class imbalance: 27.9x more Benign than rare attack types</a:t>
            </a:r>
          </a:p>
          <a:p>
            <a:pPr>
              <a:spcBef>
                <a:spcPts val="300"/>
              </a:spcBef>
              <a:buChar char="▸"/>
            </a:pPr>
            <a:r>
              <a:rPr sz="1100">
                <a:solidFill>
                  <a:srgbClr val="C5D0DC"/>
                </a:solidFill>
                <a:latin typeface="Calibri"/>
              </a:rPr>
              <a:t>We need ML that generalises across 9 different threat families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960120"/>
            <a:ext cx="4114800" cy="356616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17720" y="960120"/>
            <a:ext cx="54864" cy="356616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0241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68F"/>
                </a:solidFill>
                <a:latin typeface="Calibri"/>
              </a:rPr>
              <a:t>9 Attack Families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444752"/>
            <a:ext cx="73152" cy="219456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144475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Benign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44475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Normal IoT traffic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773936"/>
            <a:ext cx="73152" cy="219456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6048" y="17739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7393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Distributed volumetric floods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103120"/>
            <a:ext cx="73152" cy="21945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56048" y="210312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0312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Single-source service denial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432304"/>
            <a:ext cx="73152" cy="2194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56048" y="243230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Mirai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3230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Botnet C2 &amp; propagation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2761488"/>
            <a:ext cx="73152" cy="21945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56048" y="276148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Spoofing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7614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DNS / ARP poisoning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3090672"/>
            <a:ext cx="73152" cy="21945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56048" y="309067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Recon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09067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Port scans, OS fingerprinting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419856"/>
            <a:ext cx="73152" cy="21945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56048" y="34198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Recon-HostDiscovery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41985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Host discovery sweeps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3749039"/>
            <a:ext cx="73152" cy="21945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56048" y="3749039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749039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SQLi, XSS, command injection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4078224"/>
            <a:ext cx="73152" cy="219456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56048" y="407822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DictionaryBruteForce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07822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Password brute force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&amp; ML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CICIoT2023  ·  46 features  ·  Stratified sampling → SMOTE → 5 models</a:t>
            </a:r>
          </a:p>
        </p:txBody>
      </p:sp>
      <p:sp>
        <p:nvSpPr>
          <p:cNvPr id="5" name="Oval 4"/>
          <p:cNvSpPr/>
          <p:nvPr/>
        </p:nvSpPr>
        <p:spPr>
          <a:xfrm>
            <a:off x="521207" y="987552"/>
            <a:ext cx="594360" cy="594360"/>
          </a:xfrm>
          <a:prstGeom prst="ellipse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7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Raw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7.8M flows
33 labels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34440" y="1280160"/>
            <a:ext cx="164592" cy="0"/>
          </a:xfrm>
          <a:prstGeom prst="line">
            <a:avLst/>
          </a:prstGeom>
          <a:ln w="15240">
            <a:solidFill>
              <a:srgbClr val="C5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591056" y="987552"/>
            <a:ext cx="594360" cy="59436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91056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Map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33 → 9
families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04288" y="1280160"/>
            <a:ext cx="164592" cy="0"/>
          </a:xfrm>
          <a:prstGeom prst="line">
            <a:avLst/>
          </a:prstGeom>
          <a:ln w="15240">
            <a:solidFill>
              <a:srgbClr val="C5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660904" y="987552"/>
            <a:ext cx="594360" cy="594360"/>
          </a:xfrm>
          <a:prstGeom prst="ellipse">
            <a:avLst/>
          </a:prstGeom>
          <a:solidFill>
            <a:srgbClr val="FFA500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60904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9736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9736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≤20K/class
stratified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74136" y="1280160"/>
            <a:ext cx="164592" cy="0"/>
          </a:xfrm>
          <a:prstGeom prst="line">
            <a:avLst/>
          </a:prstGeom>
          <a:ln w="15240">
            <a:solidFill>
              <a:srgbClr val="C5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730752" y="987552"/>
            <a:ext cx="594360" cy="594360"/>
          </a:xfrm>
          <a:prstGeom prst="ellipse">
            <a:avLst/>
          </a:prstGeom>
          <a:solidFill>
            <a:srgbClr val="9B59B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30752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70/15/15
temporal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43983" y="1280160"/>
            <a:ext cx="164592" cy="0"/>
          </a:xfrm>
          <a:prstGeom prst="line">
            <a:avLst/>
          </a:prstGeom>
          <a:ln w="15240">
            <a:solidFill>
              <a:srgbClr val="C5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800599" y="987552"/>
            <a:ext cx="594360" cy="594360"/>
          </a:xfrm>
          <a:prstGeom prst="ellipse">
            <a:avLst/>
          </a:prstGeom>
          <a:solidFill>
            <a:srgbClr val="00D68F"/>
          </a:solidFill>
          <a:ln w="19050">
            <a:solidFill>
              <a:srgbClr val="00D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0599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SMOTE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1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Balance rare
classes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513831" y="1280160"/>
            <a:ext cx="164592" cy="0"/>
          </a:xfrm>
          <a:prstGeom prst="line">
            <a:avLst/>
          </a:prstGeom>
          <a:ln w="15240">
            <a:solidFill>
              <a:srgbClr val="C5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870447" y="987552"/>
            <a:ext cx="594360" cy="594360"/>
          </a:xfrm>
          <a:prstGeom prst="ellipse">
            <a:avLst/>
          </a:prstGeom>
          <a:solidFill>
            <a:srgbClr val="F1C40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70447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79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79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StandardScaler
+impute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79" y="1280160"/>
            <a:ext cx="164592" cy="0"/>
          </a:xfrm>
          <a:prstGeom prst="line">
            <a:avLst/>
          </a:prstGeom>
          <a:ln w="15240">
            <a:solidFill>
              <a:srgbClr val="C5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940295" y="987552"/>
            <a:ext cx="594360" cy="594360"/>
          </a:xfrm>
          <a:prstGeom prst="ellipse">
            <a:avLst/>
          </a:prstGeom>
          <a:solidFill>
            <a:srgbClr val="FF4757"/>
          </a:solidFill>
          <a:ln w="190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40295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9127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7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5 models
Colab GPU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653527" y="1280160"/>
            <a:ext cx="164592" cy="0"/>
          </a:xfrm>
          <a:prstGeom prst="line">
            <a:avLst/>
          </a:prstGeom>
          <a:ln w="15240">
            <a:solidFill>
              <a:srgbClr val="C5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010144" y="987552"/>
            <a:ext cx="594360" cy="594360"/>
          </a:xfrm>
          <a:prstGeom prst="ellipse">
            <a:avLst/>
          </a:prstGeom>
          <a:solidFill>
            <a:srgbClr val="00D68F"/>
          </a:solidFill>
          <a:ln w="19050">
            <a:solidFill>
              <a:srgbClr val="00D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10144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8975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08975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FastAPI
+Docker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487168"/>
            <a:ext cx="2651760" cy="201168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65760" y="2487168"/>
            <a:ext cx="54864" cy="20116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25420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  <a:latin typeface="Calibri"/>
              </a:rPr>
              <a:t>Why Macro-F1?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2907792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Accuracy is deceptive with imbalanced data. A model predicting only 'Benign' scores 17% accuracy but catches zero attacks. Macro-F1 penalises equally across all 9 classes.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2487168"/>
            <a:ext cx="2651760" cy="201168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00400" y="2487168"/>
            <a:ext cx="54864" cy="2011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64992" y="25420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DB"/>
                </a:solidFill>
                <a:latin typeface="Calibri"/>
              </a:rPr>
              <a:t>Why Temporal Split?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Random shuffle leaks future data into training. We split by row order (time proxy) to prevent data leakage — the model never sees 'future' traffic during training.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2487168"/>
            <a:ext cx="2651760" cy="201168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035040" y="2487168"/>
            <a:ext cx="54864" cy="201168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99632" y="25420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68F"/>
                </a:solidFill>
                <a:latin typeface="Calibri"/>
              </a:rPr>
              <a:t>Why SMOTE?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99632" y="2907792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DictionaryBruteForce had only 1,541 training samples. SMOTE synthesises new minority examples by interpolating nearest neighbours, not simple copying.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Class Imbalance — The Core Challenge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Raw dataset: 27.9x imbalance between largest and smallest class</a:t>
            </a:r>
          </a:p>
        </p:txBody>
      </p:sp>
      <p:pic>
        <p:nvPicPr>
          <p:cNvPr id="5" name="Picture 4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8412480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757"/>
                </a:solidFill>
                <a:latin typeface="Calibri"/>
              </a:rPr>
              <a:t>Problem: </a:t>
            </a:r>
            <a:r>
              <a:rPr sz="1050" b="0" i="0">
                <a:solidFill>
                  <a:srgbClr val="C5D0DC"/>
                </a:solidFill>
                <a:latin typeface="Calibri"/>
              </a:rPr>
              <a:t>Standard ML trains on majority class — minority attacks get ignored. A naive model always guessing 'Benign' scores 83% accuracy but catches ZERO attacks.  </a:t>
            </a:r>
            <a:r>
              <a:rPr sz="1050" b="1" i="0">
                <a:solidFill>
                  <a:srgbClr val="00D68F"/>
                </a:solidFill>
                <a:latin typeface="Calibri"/>
              </a:rPr>
              <a:t>Fix: SMOTE + class_weight='balanced'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Fixing Imbalance — SMOTE Oversampling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Synthetic Minority Over-sampling: synthesises new examples, not simple copies</a:t>
            </a:r>
          </a:p>
        </p:txBody>
      </p:sp>
      <p:pic>
        <p:nvPicPr>
          <p:cNvPr id="5" name="Picture 4" descr="smo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8412480" cy="2926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3977639"/>
            <a:ext cx="2651760" cy="9144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3977639"/>
            <a:ext cx="54864" cy="914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4023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  <a:latin typeface="Calibri"/>
              </a:rPr>
              <a:t>Step 1 — Pick minority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43251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Select a random sample from the minority class (e.g. DictionaryBruteForce)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977639"/>
            <a:ext cx="2651760" cy="9144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3977639"/>
            <a:ext cx="54864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64992" y="4023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Calibri"/>
              </a:rPr>
              <a:t>Step 2 — Find K neighbours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43251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Find its K nearest neighbours in feature space using Euclidean distance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977639"/>
            <a:ext cx="2651760" cy="9144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3977639"/>
            <a:ext cx="54864" cy="9144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9632" y="4023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68F"/>
                </a:solidFill>
                <a:latin typeface="Calibri"/>
              </a:rPr>
              <a:t>Step 3 — Interpolate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43251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Synthesise new sample by interpolating between the point and a neighbour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1 — Logistic Regression (Baseline)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Softmax classifier  ·  L2 regularisation  ·  Isotonic calibration  ·  SAGA solver</a:t>
            </a:r>
          </a:p>
        </p:txBody>
      </p:sp>
      <p:pic>
        <p:nvPicPr>
          <p:cNvPr id="5" name="Picture 4" descr="confusion_matrix_logistic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754880" cy="3520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49240" y="960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49240" y="100584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4757"/>
                </a:solidFill>
                <a:latin typeface="Calibri"/>
              </a:rPr>
              <a:t>0.484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581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Macro-F1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0" y="960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100584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A500"/>
                </a:solidFill>
                <a:latin typeface="Calibri"/>
              </a:rPr>
              <a:t>0.929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581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ROC-AUC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103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40" y="2148839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4757"/>
                </a:solidFill>
                <a:latin typeface="Calibri"/>
              </a:rPr>
              <a:t>34.2%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724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Benign FP%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103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600" y="2148839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6B7E94"/>
                </a:solidFill>
                <a:latin typeface="Calibri"/>
              </a:rPr>
              <a:t>Worst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724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vs All Models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246120"/>
            <a:ext cx="3383280" cy="12344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49240" y="3246120"/>
            <a:ext cx="54864" cy="123444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32120" y="3291840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757"/>
                </a:solidFill>
                <a:latin typeface="Calibri"/>
              </a:rPr>
              <a:t>Why LR struggled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6118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▸"/>
            </a:pPr>
            <a:r>
              <a:rPr sz="1000">
                <a:solidFill>
                  <a:srgbClr val="C5D0DC"/>
                </a:solidFill>
                <a:latin typeface="Calibri"/>
              </a:rPr>
              <a:t>Linear boundary — IoT attacks are non-linear</a:t>
            </a:r>
          </a:p>
          <a:p>
            <a:pPr>
              <a:spcBef>
                <a:spcPts val="300"/>
              </a:spcBef>
              <a:buChar char="▸"/>
            </a:pPr>
            <a:r>
              <a:rPr sz="1000">
                <a:solidFill>
                  <a:srgbClr val="C5D0DC"/>
                </a:solidFill>
                <a:latin typeface="Calibri"/>
              </a:rPr>
              <a:t>Recon &amp; Web attacks confused with Benign</a:t>
            </a:r>
          </a:p>
          <a:p>
            <a:pPr>
              <a:spcBef>
                <a:spcPts val="300"/>
              </a:spcBef>
              <a:buChar char="▸"/>
            </a:pPr>
            <a:r>
              <a:rPr sz="1000">
                <a:solidFill>
                  <a:srgbClr val="C5D0DC"/>
                </a:solidFill>
                <a:latin typeface="Calibri"/>
              </a:rPr>
              <a:t>34% of benign traffic falsely flagged as attack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26280"/>
            <a:ext cx="1417320" cy="25603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452628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2 — Random Forest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200 trees  ·  Bagging + feature subsampling  ·  balanced_subsample  ·  OOB validation</a:t>
            </a:r>
          </a:p>
        </p:txBody>
      </p:sp>
      <p:pic>
        <p:nvPicPr>
          <p:cNvPr id="5" name="Picture 4" descr="confusion_matrix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754880" cy="3520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49240" y="960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49240" y="100584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6DB"/>
                </a:solidFill>
                <a:latin typeface="Calibri"/>
              </a:rPr>
              <a:t>0.808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581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Macro-F1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0" y="960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100584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68F"/>
                </a:solidFill>
                <a:latin typeface="Calibri"/>
              </a:rPr>
              <a:t>0.994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581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ROC-AUC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103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40" y="2148839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A500"/>
                </a:solidFill>
                <a:latin typeface="Calibri"/>
              </a:rPr>
              <a:t>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724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Benign FP%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103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600" y="2148839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68F"/>
                </a:solidFill>
                <a:latin typeface="Calibri"/>
              </a:rPr>
              <a:t>+67%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724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vs LR Macro-F1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246120"/>
            <a:ext cx="3383280" cy="12344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49240" y="3246120"/>
            <a:ext cx="54864" cy="1234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32120" y="3291840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DB"/>
                </a:solidFill>
                <a:latin typeface="Calibri"/>
              </a:rPr>
              <a:t>Why RF leaps ahead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6118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▸"/>
            </a:pPr>
            <a:r>
              <a:rPr sz="1000">
                <a:solidFill>
                  <a:srgbClr val="C5D0DC"/>
                </a:solidFill>
                <a:latin typeface="Calibri"/>
              </a:rPr>
              <a:t>200 trees vote — no single tree overfits</a:t>
            </a:r>
          </a:p>
          <a:p>
            <a:pPr>
              <a:spcBef>
                <a:spcPts val="300"/>
              </a:spcBef>
              <a:buChar char="▸"/>
            </a:pPr>
            <a:r>
              <a:rPr sz="1000">
                <a:solidFill>
                  <a:srgbClr val="C5D0DC"/>
                </a:solidFill>
                <a:latin typeface="Calibri"/>
              </a:rPr>
              <a:t>balanced_subsample handles imbalance per tree</a:t>
            </a:r>
          </a:p>
          <a:p>
            <a:pPr>
              <a:spcBef>
                <a:spcPts val="300"/>
              </a:spcBef>
              <a:buChar char="▸"/>
            </a:pPr>
            <a:r>
              <a:rPr sz="1000">
                <a:solidFill>
                  <a:srgbClr val="C5D0DC"/>
                </a:solidFill>
                <a:latin typeface="Calibri"/>
              </a:rPr>
              <a:t>OOB score used as held-out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26280"/>
            <a:ext cx="141732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452628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ENSEMBLE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the Model Looks At — Feature Importance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Permutation importance on Random Forest  ·  Macro-F1 drop when feature is shuffled</a:t>
            </a:r>
          </a:p>
        </p:txBody>
      </p:sp>
      <p:pic>
        <p:nvPicPr>
          <p:cNvPr id="5" name="Picture 4" descr="feature_importance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394960" cy="3886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35040" y="1051560"/>
            <a:ext cx="2743200" cy="65836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35040" y="1051560"/>
            <a:ext cx="64008" cy="658368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99632" y="10972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757"/>
                </a:solidFill>
                <a:latin typeface="Calibri"/>
              </a:rPr>
              <a:t>syn_flag_number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SYN floods are the signature of DDoS/DoS — top discriminator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01367"/>
            <a:ext cx="2743200" cy="65836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35040" y="1801367"/>
            <a:ext cx="64008" cy="65836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2" y="184708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  <a:latin typeface="Calibri"/>
              </a:rPr>
              <a:t>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2121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Packet rate immediately reveals volumetric attacks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551176"/>
            <a:ext cx="2743200" cy="65836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2551176"/>
            <a:ext cx="64008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9632" y="259689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ack_flag_number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8712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ACK ratio separates normal TCP from attack traffic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300984"/>
            <a:ext cx="2743200" cy="65836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35040" y="3300984"/>
            <a:ext cx="64008" cy="658368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9632" y="3346703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68F"/>
                </a:solidFill>
                <a:latin typeface="Calibri"/>
              </a:rPr>
              <a:t>flow_duration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62102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Short flows = scans; Long flows = legitimate sessions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4050791"/>
            <a:ext cx="2743200" cy="65836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0" y="4050791"/>
            <a:ext cx="64008" cy="65836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9632" y="4096511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B6"/>
                </a:solidFill>
                <a:latin typeface="Calibri"/>
              </a:rPr>
              <a:t>Header_Length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437083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Crafted headers expose spoofing &amp; injection attacks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Models 3 &amp; 4 — XGBoost vs LightGBM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Both are gradient boosting ensembles — LightGBM wins with leaf-wise growth</a:t>
            </a:r>
          </a:p>
        </p:txBody>
      </p:sp>
      <p:pic>
        <p:nvPicPr>
          <p:cNvPr id="5" name="Picture 4" descr="confusion_matrix_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4160520" cy="3108960"/>
          </a:xfrm>
          <a:prstGeom prst="rect">
            <a:avLst/>
          </a:prstGeom>
        </p:spPr>
      </p:pic>
      <p:pic>
        <p:nvPicPr>
          <p:cNvPr id="6" name="Picture 5" descr="confusion_matrix_lightgb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960120"/>
            <a:ext cx="4160520" cy="3108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960120"/>
            <a:ext cx="2103120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960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XGBoost  F1=0.815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960120"/>
            <a:ext cx="2331720" cy="27432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9601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LightGBM ★  F1=0.830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133087"/>
            <a:ext cx="4160520" cy="74980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4133087"/>
            <a:ext cx="54864" cy="7498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" y="4169663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  <a:latin typeface="Calibri"/>
              </a:rP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45312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Level-wise growth, 2nd-order gradients, exact split search. 300 estimators, lr=0.05, multi:softprob objective.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59" y="4133087"/>
            <a:ext cx="4160520" cy="74980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09159" y="4133087"/>
            <a:ext cx="54864" cy="749808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73751" y="4169663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68F"/>
                </a:solidFill>
                <a:latin typeface="Calibri"/>
              </a:rPr>
              <a:t>LightGBM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1" y="445312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Leaf-wise growth (deeper branches), GOSS sampling, histogram bins. 10x faster training. Best Macro-F1=0.830.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5 — MLP Neural Network (PyTorch)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4-layer network  ·  BatchNorm  ·  Dropout  ·  Adam optimizer  ·  Early stopping on Colab T4 GPU</a:t>
            </a:r>
          </a:p>
        </p:txBody>
      </p:sp>
      <p:pic>
        <p:nvPicPr>
          <p:cNvPr id="5" name="Picture 4" descr="confusion_matrix_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429768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800600" y="1024128"/>
            <a:ext cx="1051560" cy="384048"/>
          </a:xfrm>
          <a:prstGeom prst="rect">
            <a:avLst/>
          </a:prstGeom>
          <a:solidFill>
            <a:srgbClr val="C5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00600" y="1024128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881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46 features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26380" y="1408176"/>
            <a:ext cx="0" cy="237744"/>
          </a:xfrm>
          <a:prstGeom prst="line">
            <a:avLst/>
          </a:prstGeom>
          <a:ln w="12700">
            <a:solidFill>
              <a:srgbClr val="6B7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800600" y="1645920"/>
            <a:ext cx="105156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64592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Dense 256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7099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+ BatchNorm + ReLU + Dropout(0.3)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26380" y="2029968"/>
            <a:ext cx="0" cy="237744"/>
          </a:xfrm>
          <a:prstGeom prst="line">
            <a:avLst/>
          </a:prstGeom>
          <a:ln w="12700">
            <a:solidFill>
              <a:srgbClr val="6B7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800600" y="2267712"/>
            <a:ext cx="91440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226771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Dense 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3317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+ BatchNorm + ReLU + Dropout(0.3)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57800" y="2651760"/>
            <a:ext cx="0" cy="237744"/>
          </a:xfrm>
          <a:prstGeom prst="line">
            <a:avLst/>
          </a:prstGeom>
          <a:ln w="12700">
            <a:solidFill>
              <a:srgbClr val="6B7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800600" y="2889504"/>
            <a:ext cx="77724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2837911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Dense 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79" y="29535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+ BatchNorm + ReLU + Dropout(0.2)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89220" y="3273552"/>
            <a:ext cx="0" cy="237744"/>
          </a:xfrm>
          <a:prstGeom prst="line">
            <a:avLst/>
          </a:prstGeom>
          <a:ln w="12700">
            <a:solidFill>
              <a:srgbClr val="6B7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800600" y="3511296"/>
            <a:ext cx="640080" cy="384048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351129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5753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9 classes  (Softmax)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30175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0600" y="3063239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9B59B6"/>
                </a:solidFill>
                <a:latin typeface="Calibri"/>
              </a:rPr>
              <a:t>0.630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639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Macro-F1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30175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12280" y="3063239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6DB"/>
                </a:solidFill>
                <a:latin typeface="Calibri"/>
              </a:rPr>
              <a:t>0.976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639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ROC-AUC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4187952"/>
            <a:ext cx="3977639" cy="658368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00600" y="4187952"/>
            <a:ext cx="54864" cy="65836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65192" y="4224528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B6"/>
                </a:solidFill>
                <a:latin typeface="Calibri"/>
              </a:rPr>
              <a:t>Surprise finding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65192" y="448056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MLP underperforms LightGBM by 20% on Macro-F1 — tabular data favours gradient-boosted trees over deep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Comparison — All 5 Models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Test set: 102,167 samples  ·  LightGBM selected as production model</a:t>
            </a:r>
          </a:p>
        </p:txBody>
      </p:sp>
      <p:pic>
        <p:nvPicPr>
          <p:cNvPr id="5" name="Picture 4" descr="model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3246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4297680"/>
            <a:ext cx="2788920" cy="502920"/>
          </a:xfrm>
          <a:prstGeom prst="rect">
            <a:avLst/>
          </a:prstGeom>
          <a:solidFill>
            <a:srgbClr val="162236"/>
          </a:solidFill>
          <a:ln w="63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4315968"/>
            <a:ext cx="26060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4757"/>
                </a:solidFill>
                <a:latin typeface="Calibri"/>
              </a:rPr>
              <a:t>LR: linear boundary can't separate IoT attacks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2968" y="4297680"/>
            <a:ext cx="2788920" cy="502920"/>
          </a:xfrm>
          <a:prstGeom prst="rect">
            <a:avLst/>
          </a:prstGeom>
          <a:solidFill>
            <a:srgbClr val="162236"/>
          </a:solidFill>
          <a:ln w="6350">
            <a:solidFill>
              <a:srgbClr val="00D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4315968"/>
            <a:ext cx="26060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68F"/>
                </a:solidFill>
                <a:latin typeface="Calibri"/>
              </a:rPr>
              <a:t>RF / XGB / LGBM: tree ensembles dominate tabular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4297680"/>
            <a:ext cx="2788920" cy="502920"/>
          </a:xfrm>
          <a:prstGeom prst="rect">
            <a:avLst/>
          </a:prstGeom>
          <a:solidFill>
            <a:srgbClr val="162236"/>
          </a:solidFill>
          <a:ln w="63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63055" y="4315968"/>
            <a:ext cx="26060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500"/>
                </a:solidFill>
                <a:latin typeface="Calibri"/>
              </a:rPr>
              <a:t>MLP: needs more data / tuning for tabular tasks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Drift Monitoring — Is the Model Still Valid?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3 complementary checks: KS test  ·  PSI  ·  3-sigma alert rate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2651760" cy="32004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4864" cy="3200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80160" y="1051560"/>
            <a:ext cx="777240" cy="7772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10515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38528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DB"/>
                </a:solidFill>
                <a:latin typeface="Calibri"/>
              </a:rPr>
              <a:t>KS Drift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304288"/>
            <a:ext cx="2359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Kolmogorov-Smirnov test compares each feature's distribution between training data and new incoming traffic.
p-value &lt; 0.05 means the feature has significantly shifted.
Runs every 500 predictions.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3749039"/>
            <a:ext cx="233172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3749039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 &lt; 0.05 = DRIFTED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960120"/>
            <a:ext cx="2651760" cy="32004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960120"/>
            <a:ext cx="54864" cy="3200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114800" y="1051560"/>
            <a:ext cx="777240" cy="7772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0" y="10515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PSI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1938528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  <a:latin typeface="Calibri"/>
              </a:rPr>
              <a:t>PSI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304288"/>
            <a:ext cx="2359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Population Stability Index measures distribution shift.
PSI &lt; 0.1   Stable
PSI 0.1-0.2  Moderate change
PSI &gt; 0.2   Significant DRIFT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64992" y="3749039"/>
            <a:ext cx="2331720" cy="2560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64992" y="3749039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PSI &gt; 0.2 =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960120"/>
            <a:ext cx="2651760" cy="32004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35040" y="960120"/>
            <a:ext cx="54864" cy="32004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949440" y="1051560"/>
            <a:ext cx="777240" cy="777240"/>
          </a:xfrm>
          <a:prstGeom prst="ellipse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0" y="10515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3σ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1938528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757"/>
                </a:solidFill>
                <a:latin typeface="Calibri"/>
              </a:rPr>
              <a:t>Alert Rate Monitor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2304288"/>
            <a:ext cx="2359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Tracks % of traffic flagged as attacks in rolling windows.
Sudden spike = real attack OR model has drifted.
Uses 3-sigma rule: Z-score &gt; 3 triggers CRITICAL warning.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3749039"/>
            <a:ext cx="2331720" cy="25603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99632" y="3749039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Z &gt; 3 = CRITICAL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60520"/>
            <a:ext cx="8412480" cy="62179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206240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68F"/>
                </a:solidFill>
                <a:latin typeface="Calibri"/>
              </a:rPr>
              <a:t>API Integration: </a:t>
            </a:r>
            <a:r>
              <a:rPr sz="1050" b="0" i="0">
                <a:solidFill>
                  <a:srgbClr val="C5D0DC"/>
                </a:solidFill>
                <a:latin typeface="Calibri"/>
              </a:rPr>
              <a:t>Every /predict call feeds features into DriftMonitor.update()  →  drift checked every 500 calls  →  GET /drift/status returns full PSI + KS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Live System — FastAPI + Docker Deployment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3-step startup  ·  Swagger UI  ·  5 REST endpoints  ·  Docker Hub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4023360" cy="29718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4864" cy="29718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68F"/>
                </a:solidFill>
                <a:latin typeface="Calibri"/>
              </a:rPr>
              <a:t>REST Endpoints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26464"/>
            <a:ext cx="594360" cy="23774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2646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42646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66420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E94"/>
                </a:solidFill>
                <a:latin typeface="Calibri"/>
              </a:rPr>
              <a:t>Classify single flow → label + confidence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594360" cy="23774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192024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/predict/batch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15798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E94"/>
                </a:solidFill>
                <a:latin typeface="Calibri"/>
              </a:rPr>
              <a:t>Classify multiple flows at once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14016"/>
            <a:ext cx="594360" cy="237744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41401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241401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/drift/status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265176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E94"/>
                </a:solidFill>
                <a:latin typeface="Calibri"/>
              </a:rPr>
              <a:t>PSI + KS drift 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07792"/>
            <a:ext cx="594360" cy="237744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90779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907792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314553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E94"/>
                </a:solidFill>
                <a:latin typeface="Calibri"/>
              </a:rPr>
              <a:t>Liveness check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01568"/>
            <a:ext cx="594360" cy="237744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40156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340156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363931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E94"/>
                </a:solidFill>
                <a:latin typeface="Calibri"/>
              </a:rPr>
              <a:t>Interactive Swagger 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960120"/>
            <a:ext cx="4114800" cy="29718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17720" y="960120"/>
            <a:ext cx="54864" cy="2971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00600" y="1005840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Start in 3 Steps</a:t>
            </a:r>
          </a:p>
        </p:txBody>
      </p:sp>
      <p:sp>
        <p:nvSpPr>
          <p:cNvPr id="31" name="Oval 30"/>
          <p:cNvSpPr/>
          <p:nvPr/>
        </p:nvSpPr>
        <p:spPr>
          <a:xfrm>
            <a:off x="4800600" y="1426464"/>
            <a:ext cx="329184" cy="329184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0600" y="142646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1463040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5D0DC"/>
                </a:solidFill>
                <a:latin typeface="Consolas"/>
              </a:rPr>
              <a:t>git clone</a:t>
            </a:r>
            <a:r>
              <a:rPr lang="en-US" sz="900" b="0" i="0" dirty="0">
                <a:solidFill>
                  <a:srgbClr val="C5D0DC"/>
                </a:solidFill>
                <a:latin typeface="Consolas"/>
              </a:rPr>
              <a:t> https://github.com/marcbouloss/cybersecurity</a:t>
            </a:r>
            <a:endParaRPr sz="900" b="0" i="0" dirty="0">
              <a:solidFill>
                <a:srgbClr val="C5D0DC"/>
              </a:solidFill>
              <a:latin typeface="Consola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800600" y="1901952"/>
            <a:ext cx="329184" cy="329184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00600" y="190195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19385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37" name="Oval 36"/>
          <p:cNvSpPr/>
          <p:nvPr/>
        </p:nvSpPr>
        <p:spPr>
          <a:xfrm>
            <a:off x="4800600" y="2377440"/>
            <a:ext cx="329184" cy="329184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00600" y="23774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2414016"/>
            <a:ext cx="3383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00D68F"/>
                </a:solidFill>
                <a:latin typeface="Consolas"/>
              </a:rPr>
              <a:t>-m </a:t>
            </a:r>
            <a:r>
              <a:rPr sz="900" b="0" i="0" dirty="0" err="1">
                <a:solidFill>
                  <a:srgbClr val="00D68F"/>
                </a:solidFill>
                <a:latin typeface="Consolas"/>
              </a:rPr>
              <a:t>uvicorn</a:t>
            </a:r>
            <a:r>
              <a:rPr sz="900" b="0" i="0" dirty="0">
                <a:solidFill>
                  <a:srgbClr val="00D68F"/>
                </a:solidFill>
                <a:latin typeface="Consolas"/>
              </a:rPr>
              <a:t> </a:t>
            </a:r>
            <a:r>
              <a:rPr sz="900" b="0" i="0" dirty="0" err="1">
                <a:solidFill>
                  <a:srgbClr val="00D68F"/>
                </a:solidFill>
                <a:latin typeface="Consolas"/>
              </a:rPr>
              <a:t>src.api:app</a:t>
            </a:r>
            <a:r>
              <a:rPr sz="900" b="0" i="0" dirty="0">
                <a:solidFill>
                  <a:srgbClr val="00D68F"/>
                </a:solidFill>
                <a:latin typeface="Consolas"/>
              </a:rPr>
              <a:t> --port 8000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800600" y="2907792"/>
            <a:ext cx="3840480" cy="0"/>
          </a:xfrm>
          <a:prstGeom prst="line">
            <a:avLst/>
          </a:prstGeom>
          <a:ln w="6350">
            <a:solidFill>
              <a:srgbClr val="6B7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800600" y="2944368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  <a:latin typeface="Calibri"/>
              </a:rPr>
              <a:t>Or with Docker: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3200400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5D0DC"/>
                </a:solidFill>
                <a:latin typeface="Consolas"/>
              </a:rPr>
              <a:t>docker pull </a:t>
            </a:r>
            <a:r>
              <a:rPr lang="en-US" sz="900" b="0" i="0" dirty="0" err="1">
                <a:solidFill>
                  <a:srgbClr val="C5D0DC"/>
                </a:solidFill>
                <a:latin typeface="Consolas"/>
              </a:rPr>
              <a:t>marcboulos</a:t>
            </a:r>
            <a:r>
              <a:rPr lang="en-US" sz="900" b="0" i="0" dirty="0">
                <a:solidFill>
                  <a:srgbClr val="C5D0DC"/>
                </a:solidFill>
                <a:latin typeface="Consolas"/>
              </a:rPr>
              <a:t>/</a:t>
            </a:r>
            <a:r>
              <a:rPr sz="900" b="0" i="0" dirty="0" err="1">
                <a:solidFill>
                  <a:srgbClr val="C5D0DC"/>
                </a:solidFill>
                <a:latin typeface="Consolas"/>
              </a:rPr>
              <a:t>iot-ids:latest</a:t>
            </a:r>
            <a:r>
              <a:rPr sz="900" b="0" i="0" dirty="0">
                <a:solidFill>
                  <a:srgbClr val="C5D0DC"/>
                </a:solidFill>
                <a:latin typeface="Consolas"/>
              </a:rPr>
              <a:t>
docker run -p 8000:8000 </a:t>
            </a:r>
            <a:r>
              <a:rPr lang="en-US" sz="900" dirty="0" err="1">
                <a:solidFill>
                  <a:srgbClr val="C5D0DC"/>
                </a:solidFill>
                <a:latin typeface="Consolas"/>
              </a:rPr>
              <a:t>marcboulos</a:t>
            </a:r>
            <a:r>
              <a:rPr sz="900" b="0" i="0" dirty="0">
                <a:solidFill>
                  <a:srgbClr val="C5D0DC"/>
                </a:solidFill>
                <a:latin typeface="Consolas"/>
              </a:rPr>
              <a:t>/</a:t>
            </a:r>
            <a:r>
              <a:rPr sz="900" b="0" i="0" dirty="0" err="1">
                <a:solidFill>
                  <a:srgbClr val="C5D0DC"/>
                </a:solidFill>
                <a:latin typeface="Consolas"/>
              </a:rPr>
              <a:t>iot-ids:latest</a:t>
            </a:r>
            <a:endParaRPr sz="900" b="0" i="0" dirty="0">
              <a:solidFill>
                <a:srgbClr val="C5D0DC"/>
              </a:solidFill>
              <a:latin typeface="Consola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65760" y="4005072"/>
            <a:ext cx="8412480" cy="79552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059936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68F"/>
                </a:solidFill>
                <a:latin typeface="Calibri"/>
              </a:rPr>
              <a:t>Example response: </a:t>
            </a:r>
            <a:r>
              <a:rPr sz="1000" b="0" i="0">
                <a:solidFill>
                  <a:srgbClr val="C5D0DC"/>
                </a:solidFill>
                <a:latin typeface="Calibri"/>
              </a:rPr>
              <a:t>{ "label": "DDoS", "confidence": 0.9997, "model_used": "LightGBM", "probabilities": {"DDoS": 0.9997, ...}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2651760" cy="181051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4864" cy="1810512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0515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68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356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Trees beat deep learning on tabular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01368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5D0DC"/>
                </a:solidFill>
                <a:latin typeface="Calibri"/>
              </a:rPr>
              <a:t>LightGBM outperforms a 4-layer PyTorch MLP by 20% Macro-F1. Tabular IoT features don't benefit from raw neural feature learning — gradient boosting wins.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960120"/>
            <a:ext cx="2651760" cy="181051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0" y="960120"/>
            <a:ext cx="54864" cy="181051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64992" y="10515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A50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14356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Imbalance must be fixed, not ignored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801368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5D0DC"/>
                </a:solidFill>
                <a:latin typeface="Calibri"/>
              </a:rPr>
              <a:t>SMOTE + class_weight='balanced' prevents the model collapsing to majority class. Without it, rare attacks like DictionaryBruteForce are invisible.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60120"/>
            <a:ext cx="2651760" cy="181051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960120"/>
            <a:ext cx="54864" cy="181051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9632" y="10515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4757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14356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Accuracy is a misleading 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1801368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5D0DC"/>
                </a:solidFill>
                <a:latin typeface="Calibri"/>
              </a:rPr>
              <a:t>A model predicting 'Benign' every time scores 83% accuracy but catches zero attacks. Macro-F1 is the honest metric for imbalanced multi-class problems.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98648"/>
            <a:ext cx="2651760" cy="181051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898648"/>
            <a:ext cx="54864" cy="181051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299008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3741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Drift monitoring is production-critical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739896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5D0DC"/>
                </a:solidFill>
                <a:latin typeface="Calibri"/>
              </a:rPr>
              <a:t>KS test + PSI + 3-sigma alert rate catches both feature distribution shifts and sudden attack spikes automatically every 500 predictions.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898648"/>
            <a:ext cx="2651760" cy="181051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0" y="2898648"/>
            <a:ext cx="54864" cy="181051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64992" y="299008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B59B6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3741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End-to-end: CSV to live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4992" y="3739896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5D0DC"/>
                </a:solidFill>
                <a:latin typeface="Calibri"/>
              </a:rPr>
              <a:t>Full pipeline: raw CSV → label mapping → SMOTE → 5 trained models → FastAPI → Docker → /drift/status in production. Ready to demo.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898648"/>
            <a:ext cx="2651760" cy="181051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35040" y="2898648"/>
            <a:ext cx="54864" cy="181051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9632" y="299008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98DB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33741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Temporal split prevents data leakage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3739896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5D0DC"/>
                </a:solidFill>
                <a:latin typeface="Calibri"/>
              </a:rPr>
              <a:t>Splitting by row order (time proxy) ensures the model is evaluated on 'future' traffic — not shuffled training data sneaking into the test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1397</Words>
  <Application>Microsoft Office PowerPoint</Application>
  <PresentationFormat>On-screen Show (16:9)</PresentationFormat>
  <Paragraphs>222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Marc Boulos</cp:lastModifiedBy>
  <cp:revision>3</cp:revision>
  <dcterms:created xsi:type="dcterms:W3CDTF">2013-01-27T09:14:16Z</dcterms:created>
  <dcterms:modified xsi:type="dcterms:W3CDTF">2026-04-26T22:23:34Z</dcterms:modified>
  <cp:category/>
</cp:coreProperties>
</file>