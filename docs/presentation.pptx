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Calibri"/>
              </a:rPr>
              <a:t>IoT Intrusion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00D68F"/>
                </a:solidFill>
                <a:latin typeface="Calibri"/>
              </a:rPr>
              <a:t>with Real-Time Drift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5564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5D0DC"/>
                </a:solidFill>
                <a:latin typeface="Calibri"/>
              </a:rPr>
              <a:t>Multi-class ML system  ·  9 attack families  ·  CICIoT2023 dataset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86000"/>
            <a:ext cx="2011680" cy="1005840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331720"/>
            <a:ext cx="2011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D68F"/>
                </a:solidFill>
                <a:latin typeface="Calibr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90779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5D0DC"/>
                </a:solidFill>
                <a:latin typeface="Calibri"/>
              </a:rPr>
              <a:t>Attack Classes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6040" y="2286000"/>
            <a:ext cx="2011680" cy="1005840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06040" y="2331720"/>
            <a:ext cx="2011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A56DB"/>
                </a:solidFill>
                <a:latin typeface="Calibri"/>
              </a:rPr>
              <a:t>7.8M+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290779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5D0DC"/>
                </a:solidFill>
                <a:latin typeface="Calibri"/>
              </a:rPr>
              <a:t>Raw Flows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54880" y="2286000"/>
            <a:ext cx="2011680" cy="1005840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0" y="2331720"/>
            <a:ext cx="2011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A500"/>
                </a:solidFill>
                <a:latin typeface="Calibr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90779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5D0DC"/>
                </a:solidFill>
                <a:latin typeface="Calibri"/>
              </a:rPr>
              <a:t>Models Trained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03720" y="2286000"/>
            <a:ext cx="2011680" cy="1005840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331720"/>
            <a:ext cx="2011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3498DB"/>
                </a:solidFill>
                <a:latin typeface="Calibri"/>
              </a:rPr>
              <a:t>0.830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290779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5D0DC"/>
                </a:solidFill>
                <a:latin typeface="Calibri"/>
              </a:rPr>
              <a:t>Best Macro-F1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520440"/>
            <a:ext cx="1508760" cy="274320"/>
          </a:xfrm>
          <a:prstGeom prst="rect">
            <a:avLst/>
          </a:prstGeom>
          <a:solidFill>
            <a:srgbClr val="1A2D44"/>
          </a:solidFill>
          <a:ln w="63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52044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5D0DC"/>
                </a:solidFill>
                <a:latin typeface="Calibri"/>
              </a:rPr>
              <a:t>FastAPI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121408" y="3520440"/>
            <a:ext cx="1508760" cy="274320"/>
          </a:xfrm>
          <a:prstGeom prst="rect">
            <a:avLst/>
          </a:prstGeom>
          <a:solidFill>
            <a:srgbClr val="1A2D44"/>
          </a:solidFill>
          <a:ln w="63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21408" y="352044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5D0DC"/>
                </a:solidFill>
                <a:latin typeface="Calibri"/>
              </a:rPr>
              <a:t>Docker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85616" y="3520440"/>
            <a:ext cx="1508760" cy="274320"/>
          </a:xfrm>
          <a:prstGeom prst="rect">
            <a:avLst/>
          </a:prstGeom>
          <a:solidFill>
            <a:srgbClr val="1A2D44"/>
          </a:solidFill>
          <a:ln w="63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85616" y="352044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5D0DC"/>
                </a:solidFill>
                <a:latin typeface="Calibri"/>
              </a:rPr>
              <a:t>LightGBM ★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49824" y="3520440"/>
            <a:ext cx="1508760" cy="274320"/>
          </a:xfrm>
          <a:prstGeom prst="rect">
            <a:avLst/>
          </a:prstGeom>
          <a:solidFill>
            <a:srgbClr val="1A2D44"/>
          </a:solidFill>
          <a:ln w="63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49824" y="352044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5D0DC"/>
                </a:solidFill>
                <a:latin typeface="Calibri"/>
              </a:rPr>
              <a:t>PyTorch MLP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114032" y="3520440"/>
            <a:ext cx="1508760" cy="274320"/>
          </a:xfrm>
          <a:prstGeom prst="rect">
            <a:avLst/>
          </a:prstGeom>
          <a:solidFill>
            <a:srgbClr val="1A2D44"/>
          </a:solidFill>
          <a:ln w="63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14032" y="352044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5D0DC"/>
                </a:solidFill>
                <a:latin typeface="Calibri"/>
              </a:rPr>
              <a:t>KS Drift Test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0D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4864608"/>
            <a:ext cx="84124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B7E94"/>
                </a:solidFill>
                <a:latin typeface="Calibri"/>
              </a:rPr>
              <a:t>CICIoT2023 · University of New Brunswick  |  Macro-F1 as primary metric (class imbalance)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Problem — IoT Networks Under Attack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713232"/>
            <a:ext cx="8412480" cy="0"/>
          </a:xfrm>
          <a:prstGeom prst="line">
            <a:avLst/>
          </a:prstGeom>
          <a:ln w="19050">
            <a:solidFill>
              <a:srgbClr val="00D6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749808"/>
            <a:ext cx="8412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5D0DC"/>
                </a:solidFill>
                <a:latin typeface="Calibri"/>
              </a:rPr>
              <a:t>33 raw attack types → 9 families  ·  7.8M+ labeled flows  ·  extreme class imbalance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4023360" cy="3566160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54864" cy="3566160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2412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4757"/>
                </a:solidFill>
                <a:latin typeface="Calibri"/>
              </a:rPr>
              <a:t>Why this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36576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buChar char="▸"/>
            </a:pPr>
            <a:r>
              <a:rPr sz="1100">
                <a:solidFill>
                  <a:srgbClr val="C5D0DC"/>
                </a:solidFill>
                <a:latin typeface="Calibri"/>
              </a:rPr>
              <a:t>Smart TVs, cameras, sensors — billions of devices with zero built-in security</a:t>
            </a:r>
          </a:p>
          <a:p>
            <a:pPr>
              <a:spcBef>
                <a:spcPts val="300"/>
              </a:spcBef>
              <a:buChar char="▸"/>
            </a:pPr>
            <a:r>
              <a:rPr sz="1100">
                <a:solidFill>
                  <a:srgbClr val="C5D0DC"/>
                </a:solidFill>
                <a:latin typeface="Calibri"/>
              </a:rPr>
              <a:t>Attackers exploit them for DDoS, botnet C2, and lateral movement</a:t>
            </a:r>
          </a:p>
          <a:p>
            <a:pPr>
              <a:spcBef>
                <a:spcPts val="300"/>
              </a:spcBef>
              <a:buChar char="▸"/>
            </a:pPr>
            <a:r>
              <a:rPr sz="1100">
                <a:solidFill>
                  <a:srgbClr val="C5D0DC"/>
                </a:solidFill>
                <a:latin typeface="Calibri"/>
              </a:rPr>
              <a:t>Traditional signature-based IDS fails on novel attack patterns</a:t>
            </a:r>
          </a:p>
          <a:p>
            <a:pPr>
              <a:spcBef>
                <a:spcPts val="300"/>
              </a:spcBef>
              <a:buChar char="▸"/>
            </a:pPr>
            <a:r>
              <a:rPr sz="1100">
                <a:solidFill>
                  <a:srgbClr val="C5D0DC"/>
                </a:solidFill>
                <a:latin typeface="Calibri"/>
              </a:rPr>
              <a:t>Class imbalance: 27.9x more Benign than rare attack types</a:t>
            </a:r>
          </a:p>
          <a:p>
            <a:pPr>
              <a:spcBef>
                <a:spcPts val="300"/>
              </a:spcBef>
              <a:buChar char="▸"/>
            </a:pPr>
            <a:r>
              <a:rPr sz="1100">
                <a:solidFill>
                  <a:srgbClr val="C5D0DC"/>
                </a:solidFill>
                <a:latin typeface="Calibri"/>
              </a:rPr>
              <a:t>We need ML that generalises across 9 different threat families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4617720" y="960120"/>
            <a:ext cx="4114800" cy="3566160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17720" y="960120"/>
            <a:ext cx="54864" cy="3566160"/>
          </a:xfrm>
          <a:prstGeom prst="rect">
            <a:avLst/>
          </a:prstGeom>
          <a:solidFill>
            <a:srgbClr val="00D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1024128"/>
            <a:ext cx="374903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68F"/>
                </a:solidFill>
                <a:latin typeface="Calibri"/>
              </a:rPr>
              <a:t>9 Attack Families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00600" y="1444752"/>
            <a:ext cx="73152" cy="219456"/>
          </a:xfrm>
          <a:prstGeom prst="rect">
            <a:avLst/>
          </a:prstGeom>
          <a:solidFill>
            <a:srgbClr val="00D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56048" y="1444752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Benign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1444752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5D0DC"/>
                </a:solidFill>
                <a:latin typeface="Calibri"/>
              </a:rPr>
              <a:t>Normal IoT traffic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00600" y="1773936"/>
            <a:ext cx="73152" cy="219456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56048" y="1773936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DDoS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1773936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5D0DC"/>
                </a:solidFill>
                <a:latin typeface="Calibri"/>
              </a:rPr>
              <a:t>Distributed volumetric floods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00600" y="2103120"/>
            <a:ext cx="73152" cy="219456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56048" y="2103120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DoS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103120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5D0DC"/>
                </a:solidFill>
                <a:latin typeface="Calibri"/>
              </a:rPr>
              <a:t>Single-source service denial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00600" y="2432304"/>
            <a:ext cx="73152" cy="21945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56048" y="2432304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Mirai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2432304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5D0DC"/>
                </a:solidFill>
                <a:latin typeface="Calibri"/>
              </a:rPr>
              <a:t>Botnet C2 &amp; propagation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800600" y="2761488"/>
            <a:ext cx="73152" cy="219456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56048" y="2761488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Spoofing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2761488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5D0DC"/>
                </a:solidFill>
                <a:latin typeface="Calibri"/>
              </a:rPr>
              <a:t>DNS / ARP poisoning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800600" y="3090672"/>
            <a:ext cx="73152" cy="219456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56048" y="3090672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Recon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090672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5D0DC"/>
                </a:solidFill>
                <a:latin typeface="Calibri"/>
              </a:rPr>
              <a:t>Port scans, OS fingerprinting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00600" y="3419856"/>
            <a:ext cx="73152" cy="21945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56048" y="3419856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Recon-HostDiscovery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3419856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5D0DC"/>
                </a:solidFill>
                <a:latin typeface="Calibri"/>
              </a:rPr>
              <a:t>Host discovery sweeps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00600" y="3749039"/>
            <a:ext cx="73152" cy="219456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956048" y="3749039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Web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3749039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5D0DC"/>
                </a:solidFill>
                <a:latin typeface="Calibri"/>
              </a:rPr>
              <a:t>SQLi, XSS, command injection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00600" y="4078224"/>
            <a:ext cx="73152" cy="219456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56048" y="4078224"/>
            <a:ext cx="1463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DictionaryBruteForce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4078224"/>
            <a:ext cx="21031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5D0DC"/>
                </a:solidFill>
                <a:latin typeface="Calibri"/>
              </a:rPr>
              <a:t>Password brute force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Dataset &amp; ML Pipeline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713232"/>
            <a:ext cx="8412480" cy="0"/>
          </a:xfrm>
          <a:prstGeom prst="line">
            <a:avLst/>
          </a:prstGeom>
          <a:ln w="19050">
            <a:solidFill>
              <a:srgbClr val="00D6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749808"/>
            <a:ext cx="8412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5D0DC"/>
                </a:solidFill>
                <a:latin typeface="Calibri"/>
              </a:rPr>
              <a:t>CICIoT2023  ·  46 features  ·  Stratified sampling → SMOTE → 5 models</a:t>
            </a:r>
          </a:p>
        </p:txBody>
      </p:sp>
      <p:sp>
        <p:nvSpPr>
          <p:cNvPr id="5" name="Oval 4"/>
          <p:cNvSpPr/>
          <p:nvPr/>
        </p:nvSpPr>
        <p:spPr>
          <a:xfrm>
            <a:off x="521207" y="987552"/>
            <a:ext cx="594360" cy="594360"/>
          </a:xfrm>
          <a:prstGeom prst="ellipse">
            <a:avLst/>
          </a:prstGeom>
          <a:solidFill>
            <a:srgbClr val="1A56DB"/>
          </a:solidFill>
          <a:ln w="19050">
            <a:solidFill>
              <a:srgbClr val="1A56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21207" y="98755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62763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Raw CSV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901952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5D0DC"/>
                </a:solidFill>
                <a:latin typeface="Calibri"/>
              </a:rPr>
              <a:t>7.8M flows
33 labels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234440" y="1280160"/>
            <a:ext cx="164592" cy="0"/>
          </a:xfrm>
          <a:prstGeom prst="line">
            <a:avLst/>
          </a:prstGeom>
          <a:ln w="15240">
            <a:solidFill>
              <a:srgbClr val="C5D0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1591056" y="987552"/>
            <a:ext cx="594360" cy="594360"/>
          </a:xfrm>
          <a:prstGeom prst="ellipse">
            <a:avLst/>
          </a:prstGeom>
          <a:solidFill>
            <a:srgbClr val="3498DB"/>
          </a:solidFill>
          <a:ln w="1905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91056" y="98755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9888" y="162763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Map Labels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1901952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5D0DC"/>
                </a:solidFill>
                <a:latin typeface="Calibri"/>
              </a:rPr>
              <a:t>33 → 9
families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304288" y="1280160"/>
            <a:ext cx="164592" cy="0"/>
          </a:xfrm>
          <a:prstGeom prst="line">
            <a:avLst/>
          </a:prstGeom>
          <a:ln w="15240">
            <a:solidFill>
              <a:srgbClr val="C5D0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2660904" y="987552"/>
            <a:ext cx="594360" cy="594360"/>
          </a:xfrm>
          <a:prstGeom prst="ellipse">
            <a:avLst/>
          </a:prstGeom>
          <a:solidFill>
            <a:srgbClr val="FFA500"/>
          </a:solidFill>
          <a:ln w="1905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60904" y="98755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59736" y="162763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Sample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59736" y="1901952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5D0DC"/>
                </a:solidFill>
                <a:latin typeface="Calibri"/>
              </a:rPr>
              <a:t>≤20K/class
stratified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374136" y="1280160"/>
            <a:ext cx="164592" cy="0"/>
          </a:xfrm>
          <a:prstGeom prst="line">
            <a:avLst/>
          </a:prstGeom>
          <a:ln w="15240">
            <a:solidFill>
              <a:srgbClr val="C5D0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3730752" y="987552"/>
            <a:ext cx="594360" cy="594360"/>
          </a:xfrm>
          <a:prstGeom prst="ellipse">
            <a:avLst/>
          </a:prstGeom>
          <a:solidFill>
            <a:srgbClr val="9B59B6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30752" y="98755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9584" y="162763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Split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9584" y="1901952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5D0DC"/>
                </a:solidFill>
                <a:latin typeface="Calibri"/>
              </a:rPr>
              <a:t>70/15/15
temporal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443983" y="1280160"/>
            <a:ext cx="164592" cy="0"/>
          </a:xfrm>
          <a:prstGeom prst="line">
            <a:avLst/>
          </a:prstGeom>
          <a:ln w="15240">
            <a:solidFill>
              <a:srgbClr val="C5D0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4800599" y="987552"/>
            <a:ext cx="594360" cy="594360"/>
          </a:xfrm>
          <a:prstGeom prst="ellipse">
            <a:avLst/>
          </a:prstGeom>
          <a:solidFill>
            <a:srgbClr val="00D68F"/>
          </a:solidFill>
          <a:ln w="19050">
            <a:solidFill>
              <a:srgbClr val="00D6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00599" y="98755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99431" y="162763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SMOTE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99431" y="1901952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5D0DC"/>
                </a:solidFill>
                <a:latin typeface="Calibri"/>
              </a:rPr>
              <a:t>Balance rare
classes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513831" y="1280160"/>
            <a:ext cx="164592" cy="0"/>
          </a:xfrm>
          <a:prstGeom prst="line">
            <a:avLst/>
          </a:prstGeom>
          <a:ln w="15240">
            <a:solidFill>
              <a:srgbClr val="C5D0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5870447" y="987552"/>
            <a:ext cx="594360" cy="594360"/>
          </a:xfrm>
          <a:prstGeom prst="ellipse">
            <a:avLst/>
          </a:prstGeom>
          <a:solidFill>
            <a:srgbClr val="F1C40F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70447" y="98755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79" y="162763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Scale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79" y="1901952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5D0DC"/>
                </a:solidFill>
                <a:latin typeface="Calibri"/>
              </a:rPr>
              <a:t>StandardScaler
+impute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583679" y="1280160"/>
            <a:ext cx="164592" cy="0"/>
          </a:xfrm>
          <a:prstGeom prst="line">
            <a:avLst/>
          </a:prstGeom>
          <a:ln w="15240">
            <a:solidFill>
              <a:srgbClr val="C5D0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6940295" y="987552"/>
            <a:ext cx="594360" cy="594360"/>
          </a:xfrm>
          <a:prstGeom prst="ellipse">
            <a:avLst/>
          </a:prstGeom>
          <a:solidFill>
            <a:srgbClr val="FF4757"/>
          </a:solidFill>
          <a:ln w="19050">
            <a:solidFill>
              <a:srgbClr val="FF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40295" y="98755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39127" y="162763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Train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39127" y="1901952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5D0DC"/>
                </a:solidFill>
                <a:latin typeface="Calibri"/>
              </a:rPr>
              <a:t>5 models
Colab GPU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7653527" y="1280160"/>
            <a:ext cx="164592" cy="0"/>
          </a:xfrm>
          <a:prstGeom prst="line">
            <a:avLst/>
          </a:prstGeom>
          <a:ln w="15240">
            <a:solidFill>
              <a:srgbClr val="C5D0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8010144" y="987552"/>
            <a:ext cx="594360" cy="594360"/>
          </a:xfrm>
          <a:prstGeom prst="ellipse">
            <a:avLst/>
          </a:prstGeom>
          <a:solidFill>
            <a:srgbClr val="00D68F"/>
          </a:solidFill>
          <a:ln w="19050">
            <a:solidFill>
              <a:srgbClr val="00D6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10144" y="987552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808975" y="1627632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Deploy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08975" y="1901952"/>
            <a:ext cx="1005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5D0DC"/>
                </a:solidFill>
                <a:latin typeface="Calibri"/>
              </a:rPr>
              <a:t>FastAPI
+Docker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2487168"/>
            <a:ext cx="2651760" cy="2011680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65760" y="2487168"/>
            <a:ext cx="54864" cy="201168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30352" y="2542032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A500"/>
                </a:solidFill>
                <a:latin typeface="Calibri"/>
              </a:rPr>
              <a:t>Why Macro-F1?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0352" y="2907792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5D0DC"/>
                </a:solidFill>
                <a:latin typeface="Calibri"/>
              </a:rPr>
              <a:t>Accuracy is deceptive with imbalanced data. A model predicting only 'Benign' scores 17% accuracy but catches zero attacks. Macro-F1 penalises equally across all 9 classes.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0" y="2487168"/>
            <a:ext cx="2651760" cy="2011680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200400" y="2487168"/>
            <a:ext cx="54864" cy="201168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64992" y="2542032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6DB"/>
                </a:solidFill>
                <a:latin typeface="Calibri"/>
              </a:rPr>
              <a:t>Why Temporal Split?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364992" y="2907792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5D0DC"/>
                </a:solidFill>
                <a:latin typeface="Calibri"/>
              </a:rPr>
              <a:t>Random shuffle leaks future data into training. We split by row order (time proxy) to prevent data leakage — the model never sees 'future' traffic during training.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35040" y="2487168"/>
            <a:ext cx="2651760" cy="2011680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035040" y="2487168"/>
            <a:ext cx="54864" cy="2011680"/>
          </a:xfrm>
          <a:prstGeom prst="rect">
            <a:avLst/>
          </a:prstGeom>
          <a:solidFill>
            <a:srgbClr val="00D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199632" y="2542032"/>
            <a:ext cx="23774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68F"/>
                </a:solidFill>
                <a:latin typeface="Calibri"/>
              </a:rPr>
              <a:t>Why SMOTE?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99632" y="2907792"/>
            <a:ext cx="2377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5D0DC"/>
                </a:solidFill>
                <a:latin typeface="Calibri"/>
              </a:rPr>
              <a:t>DictionaryBruteForce had only 1,541 training samples. SMOTE synthesises new minority examples by interpolating nearest neighbours, not simple copying.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Class Imbalance — The Core Challenge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713232"/>
            <a:ext cx="8412480" cy="0"/>
          </a:xfrm>
          <a:prstGeom prst="line">
            <a:avLst/>
          </a:prstGeom>
          <a:ln w="19050">
            <a:solidFill>
              <a:srgbClr val="00D6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749808"/>
            <a:ext cx="8412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5D0DC"/>
                </a:solidFill>
                <a:latin typeface="Calibri"/>
              </a:rPr>
              <a:t>Raw dataset: 27.9x imbalance between largest and smallest class</a:t>
            </a:r>
          </a:p>
        </p:txBody>
      </p:sp>
      <p:pic>
        <p:nvPicPr>
          <p:cNvPr id="5" name="Picture 4" descr="clas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60120"/>
            <a:ext cx="8412480" cy="310896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5760" y="4160520"/>
            <a:ext cx="8412480" cy="658368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206240"/>
            <a:ext cx="80467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F4757"/>
                </a:solidFill>
                <a:latin typeface="Calibri"/>
              </a:rPr>
              <a:t>Problem: </a:t>
            </a:r>
            <a:r>
              <a:rPr sz="1050" b="0" i="0">
                <a:solidFill>
                  <a:srgbClr val="C5D0DC"/>
                </a:solidFill>
                <a:latin typeface="Calibri"/>
              </a:rPr>
              <a:t>Standard ML trains on majority class — minority attacks get ignored. A naive model always guessing 'Benign' scores 83% accuracy but catches ZERO attacks.  </a:t>
            </a:r>
            <a:r>
              <a:rPr sz="1050" b="1" i="0">
                <a:solidFill>
                  <a:srgbClr val="00D68F"/>
                </a:solidFill>
                <a:latin typeface="Calibri"/>
              </a:rPr>
              <a:t>Fix: SMOTE + class_weight='balanced'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Fixing Imbalance — SMOTE Oversampling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713232"/>
            <a:ext cx="8412480" cy="0"/>
          </a:xfrm>
          <a:prstGeom prst="line">
            <a:avLst/>
          </a:prstGeom>
          <a:ln w="19050">
            <a:solidFill>
              <a:srgbClr val="00D6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749808"/>
            <a:ext cx="8412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5D0DC"/>
                </a:solidFill>
                <a:latin typeface="Calibri"/>
              </a:rPr>
              <a:t>Synthetic Minority Over-sampling: synthesises new examples, not simple copies</a:t>
            </a:r>
          </a:p>
        </p:txBody>
      </p:sp>
      <p:pic>
        <p:nvPicPr>
          <p:cNvPr id="5" name="Picture 4" descr="smot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60120"/>
            <a:ext cx="8412480" cy="2926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5760" y="3977639"/>
            <a:ext cx="2651760" cy="914400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3977639"/>
            <a:ext cx="54864" cy="9144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40233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A500"/>
                </a:solidFill>
                <a:latin typeface="Calibri"/>
              </a:rPr>
              <a:t>Step 1 — Pick minority sample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432511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5D0DC"/>
                </a:solidFill>
                <a:latin typeface="Calibri"/>
              </a:rPr>
              <a:t>Select a random sample from the minority class (e.g. DictionaryBruteForce)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3977639"/>
            <a:ext cx="2651760" cy="914400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0" y="3977639"/>
            <a:ext cx="54864" cy="9144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64992" y="40233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56DB"/>
                </a:solidFill>
                <a:latin typeface="Calibri"/>
              </a:rPr>
              <a:t>Step 2 — Find K neighbours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64992" y="432511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5D0DC"/>
                </a:solidFill>
                <a:latin typeface="Calibri"/>
              </a:rPr>
              <a:t>Find its K nearest neighbours in feature space using Euclidean distance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3977639"/>
            <a:ext cx="2651760" cy="914400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3977639"/>
            <a:ext cx="54864" cy="914400"/>
          </a:xfrm>
          <a:prstGeom prst="rect">
            <a:avLst/>
          </a:prstGeom>
          <a:solidFill>
            <a:srgbClr val="00D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9632" y="40233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68F"/>
                </a:solidFill>
                <a:latin typeface="Calibri"/>
              </a:rPr>
              <a:t>Step 3 — Interpolate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9632" y="4325112"/>
            <a:ext cx="2377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5D0DC"/>
                </a:solidFill>
                <a:latin typeface="Calibri"/>
              </a:rPr>
              <a:t>Synthesise new sample by interpolating between the point and a neighbour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Model 1 — Logistic Regression (Baseline)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713232"/>
            <a:ext cx="8412480" cy="0"/>
          </a:xfrm>
          <a:prstGeom prst="line">
            <a:avLst/>
          </a:prstGeom>
          <a:ln w="19050">
            <a:solidFill>
              <a:srgbClr val="00D6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749808"/>
            <a:ext cx="8412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5D0DC"/>
                </a:solidFill>
                <a:latin typeface="Calibri"/>
              </a:rPr>
              <a:t>Softmax classifier  ·  L2 regularisation  ·  Isotonic calibration  ·  SAGA solver</a:t>
            </a:r>
          </a:p>
        </p:txBody>
      </p:sp>
      <p:pic>
        <p:nvPicPr>
          <p:cNvPr id="5" name="Picture 4" descr="confusion_matrix_logistic_regres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4754880" cy="35204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349240" y="960120"/>
            <a:ext cx="2011680" cy="1005840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49240" y="1005840"/>
            <a:ext cx="2011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4757"/>
                </a:solidFill>
                <a:latin typeface="Calibri"/>
              </a:rPr>
              <a:t>0.484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49240" y="15819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5D0DC"/>
                </a:solidFill>
                <a:latin typeface="Calibri"/>
              </a:rPr>
              <a:t>Macro-F1</a:t>
            </a:r>
          </a:p>
        </p:txBody>
      </p:sp>
      <p:sp>
        <p:nvSpPr>
          <p:cNvPr id="9" name="Rectangle 8"/>
          <p:cNvSpPr/>
          <p:nvPr/>
        </p:nvSpPr>
        <p:spPr>
          <a:xfrm>
            <a:off x="7086600" y="960120"/>
            <a:ext cx="2011680" cy="1005840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86600" y="1005840"/>
            <a:ext cx="2011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A500"/>
                </a:solidFill>
                <a:latin typeface="Calibri"/>
              </a:rPr>
              <a:t>0.929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15819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5D0DC"/>
                </a:solidFill>
                <a:latin typeface="Calibri"/>
              </a:rPr>
              <a:t>ROC-AUC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49240" y="2103120"/>
            <a:ext cx="2011680" cy="1005840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49240" y="2148839"/>
            <a:ext cx="2011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4757"/>
                </a:solidFill>
                <a:latin typeface="Calibri"/>
              </a:rPr>
              <a:t>34.2%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27249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5D0DC"/>
                </a:solidFill>
                <a:latin typeface="Calibri"/>
              </a:rPr>
              <a:t>Benign FP%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86600" y="2103120"/>
            <a:ext cx="2011680" cy="1005840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86600" y="2148839"/>
            <a:ext cx="2011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6B7E94"/>
                </a:solidFill>
                <a:latin typeface="Calibri"/>
              </a:rPr>
              <a:t>Worst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27249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5D0DC"/>
                </a:solidFill>
                <a:latin typeface="Calibri"/>
              </a:rPr>
              <a:t>vs All Models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49240" y="3246120"/>
            <a:ext cx="3383280" cy="123444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349240" y="3246120"/>
            <a:ext cx="54864" cy="1234440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32120" y="3291840"/>
            <a:ext cx="3017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4757"/>
                </a:solidFill>
                <a:latin typeface="Calibri"/>
              </a:rPr>
              <a:t>Why LR struggled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32120" y="361188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buChar char="▸"/>
            </a:pPr>
            <a:r>
              <a:rPr sz="1000">
                <a:solidFill>
                  <a:srgbClr val="C5D0DC"/>
                </a:solidFill>
                <a:latin typeface="Calibri"/>
              </a:rPr>
              <a:t>Linear boundary — IoT attacks are non-linear</a:t>
            </a:r>
          </a:p>
          <a:p>
            <a:pPr>
              <a:spcBef>
                <a:spcPts val="300"/>
              </a:spcBef>
              <a:buChar char="▸"/>
            </a:pPr>
            <a:r>
              <a:rPr sz="1000">
                <a:solidFill>
                  <a:srgbClr val="C5D0DC"/>
                </a:solidFill>
                <a:latin typeface="Calibri"/>
              </a:rPr>
              <a:t>Recon &amp; Web attacks confused with Benign</a:t>
            </a:r>
          </a:p>
          <a:p>
            <a:pPr>
              <a:spcBef>
                <a:spcPts val="300"/>
              </a:spcBef>
              <a:buChar char="▸"/>
            </a:pPr>
            <a:r>
              <a:rPr sz="1000">
                <a:solidFill>
                  <a:srgbClr val="C5D0DC"/>
                </a:solidFill>
                <a:latin typeface="Calibri"/>
              </a:rPr>
              <a:t>34% of benign traffic falsely flagged as attack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526280"/>
            <a:ext cx="1417320" cy="256032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4526280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BASELINE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Model 2 — Random Forest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713232"/>
            <a:ext cx="8412480" cy="0"/>
          </a:xfrm>
          <a:prstGeom prst="line">
            <a:avLst/>
          </a:prstGeom>
          <a:ln w="19050">
            <a:solidFill>
              <a:srgbClr val="00D6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749808"/>
            <a:ext cx="8412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5D0DC"/>
                </a:solidFill>
                <a:latin typeface="Calibri"/>
              </a:rPr>
              <a:t>200 trees  ·  Bagging + feature subsampling  ·  balanced_subsample  ·  OOB validation</a:t>
            </a:r>
          </a:p>
        </p:txBody>
      </p:sp>
      <p:pic>
        <p:nvPicPr>
          <p:cNvPr id="5" name="Picture 4" descr="confusion_matrix_random_fo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4754880" cy="35204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349240" y="960120"/>
            <a:ext cx="2011680" cy="1005840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49240" y="1005840"/>
            <a:ext cx="2011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A56DB"/>
                </a:solidFill>
                <a:latin typeface="Calibri"/>
              </a:rPr>
              <a:t>0.808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49240" y="15819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5D0DC"/>
                </a:solidFill>
                <a:latin typeface="Calibri"/>
              </a:rPr>
              <a:t>Macro-F1</a:t>
            </a:r>
          </a:p>
        </p:txBody>
      </p:sp>
      <p:sp>
        <p:nvSpPr>
          <p:cNvPr id="9" name="Rectangle 8"/>
          <p:cNvSpPr/>
          <p:nvPr/>
        </p:nvSpPr>
        <p:spPr>
          <a:xfrm>
            <a:off x="7086600" y="960120"/>
            <a:ext cx="2011680" cy="1005840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86600" y="1005840"/>
            <a:ext cx="2011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D68F"/>
                </a:solidFill>
                <a:latin typeface="Calibri"/>
              </a:rPr>
              <a:t>0.994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15819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5D0DC"/>
                </a:solidFill>
                <a:latin typeface="Calibri"/>
              </a:rPr>
              <a:t>ROC-AUC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49240" y="2103120"/>
            <a:ext cx="2011680" cy="1005840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49240" y="2148839"/>
            <a:ext cx="2011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A500"/>
                </a:solidFill>
                <a:latin typeface="Calibri"/>
              </a:rPr>
              <a:t>9.5%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27249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5D0DC"/>
                </a:solidFill>
                <a:latin typeface="Calibri"/>
              </a:rPr>
              <a:t>Benign FP%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86600" y="2103120"/>
            <a:ext cx="2011680" cy="1005840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86600" y="2148839"/>
            <a:ext cx="2011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00D68F"/>
                </a:solidFill>
                <a:latin typeface="Calibri"/>
              </a:rPr>
              <a:t>+67%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27249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5D0DC"/>
                </a:solidFill>
                <a:latin typeface="Calibri"/>
              </a:rPr>
              <a:t>vs LR Macro-F1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49240" y="3246120"/>
            <a:ext cx="3383280" cy="1234440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349240" y="3246120"/>
            <a:ext cx="54864" cy="123444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32120" y="3291840"/>
            <a:ext cx="3017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6DB"/>
                </a:solidFill>
                <a:latin typeface="Calibri"/>
              </a:rPr>
              <a:t>Why RF leaps ahead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32120" y="361188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buChar char="▸"/>
            </a:pPr>
            <a:r>
              <a:rPr sz="1000">
                <a:solidFill>
                  <a:srgbClr val="C5D0DC"/>
                </a:solidFill>
                <a:latin typeface="Calibri"/>
              </a:rPr>
              <a:t>200 trees vote — no single tree overfits</a:t>
            </a:r>
          </a:p>
          <a:p>
            <a:pPr>
              <a:spcBef>
                <a:spcPts val="300"/>
              </a:spcBef>
              <a:buChar char="▸"/>
            </a:pPr>
            <a:r>
              <a:rPr sz="1000">
                <a:solidFill>
                  <a:srgbClr val="C5D0DC"/>
                </a:solidFill>
                <a:latin typeface="Calibri"/>
              </a:rPr>
              <a:t>balanced_subsample handles imbalance per tree</a:t>
            </a:r>
          </a:p>
          <a:p>
            <a:pPr>
              <a:spcBef>
                <a:spcPts val="300"/>
              </a:spcBef>
              <a:buChar char="▸"/>
            </a:pPr>
            <a:r>
              <a:rPr sz="1000">
                <a:solidFill>
                  <a:srgbClr val="C5D0DC"/>
                </a:solidFill>
                <a:latin typeface="Calibri"/>
              </a:rPr>
              <a:t>OOB score used as held-out validation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526280"/>
            <a:ext cx="1417320" cy="25603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" y="4526280"/>
            <a:ext cx="1417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ENSEMBLE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What the Model Looks At — Feature Importance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713232"/>
            <a:ext cx="8412480" cy="0"/>
          </a:xfrm>
          <a:prstGeom prst="line">
            <a:avLst/>
          </a:prstGeom>
          <a:ln w="19050">
            <a:solidFill>
              <a:srgbClr val="00D6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749808"/>
            <a:ext cx="8412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5D0DC"/>
                </a:solidFill>
                <a:latin typeface="Calibri"/>
              </a:rPr>
              <a:t>Permutation importance on Random Forest  ·  Macro-F1 drop when feature is shuffled</a:t>
            </a:r>
          </a:p>
        </p:txBody>
      </p:sp>
      <p:pic>
        <p:nvPicPr>
          <p:cNvPr id="5" name="Picture 4" descr="feature_importance_random_fo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5394960" cy="38862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035040" y="1051560"/>
            <a:ext cx="2743200" cy="658368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35040" y="1051560"/>
            <a:ext cx="64008" cy="658368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99632" y="1097280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4757"/>
                </a:solidFill>
                <a:latin typeface="Calibri"/>
              </a:rPr>
              <a:t>syn_flag_number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9632" y="137160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5D0DC"/>
                </a:solidFill>
                <a:latin typeface="Calibri"/>
              </a:rPr>
              <a:t>SYN floods are the signature of DDoS/DoS — top discriminator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35040" y="1801367"/>
            <a:ext cx="2743200" cy="658368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35040" y="1801367"/>
            <a:ext cx="64008" cy="658368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99632" y="1847087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A500"/>
                </a:solidFill>
                <a:latin typeface="Calibri"/>
              </a:rPr>
              <a:t>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99632" y="2121408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5D0DC"/>
                </a:solidFill>
                <a:latin typeface="Calibri"/>
              </a:rPr>
              <a:t>Packet rate immediately reveals volumetric attacks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2551176"/>
            <a:ext cx="2743200" cy="658368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2551176"/>
            <a:ext cx="64008" cy="65836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9632" y="2596896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56DB"/>
                </a:solidFill>
                <a:latin typeface="Calibri"/>
              </a:rPr>
              <a:t>ack_flag_number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9632" y="2871216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5D0DC"/>
                </a:solidFill>
                <a:latin typeface="Calibri"/>
              </a:rPr>
              <a:t>ACK ratio separates normal TCP from attack traffic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3300984"/>
            <a:ext cx="2743200" cy="658368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35040" y="3300984"/>
            <a:ext cx="64008" cy="658368"/>
          </a:xfrm>
          <a:prstGeom prst="rect">
            <a:avLst/>
          </a:prstGeom>
          <a:solidFill>
            <a:srgbClr val="00D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99632" y="3346703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68F"/>
                </a:solidFill>
                <a:latin typeface="Calibri"/>
              </a:rPr>
              <a:t>flow_duration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99632" y="3621024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5D0DC"/>
                </a:solidFill>
                <a:latin typeface="Calibri"/>
              </a:rPr>
              <a:t>Short flows = scans; Long flows = legitimate sessions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4050791"/>
            <a:ext cx="2743200" cy="658368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035040" y="4050791"/>
            <a:ext cx="64008" cy="658368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99632" y="4096511"/>
            <a:ext cx="2468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B59B6"/>
                </a:solidFill>
                <a:latin typeface="Calibri"/>
              </a:rPr>
              <a:t>Header_Length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99632" y="4370831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5D0DC"/>
                </a:solidFill>
                <a:latin typeface="Calibri"/>
              </a:rPr>
              <a:t>Crafted headers expose spoofing &amp; injection attacks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Models 3 &amp; 4 — XGBoost vs LightGBM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713232"/>
            <a:ext cx="8412480" cy="0"/>
          </a:xfrm>
          <a:prstGeom prst="line">
            <a:avLst/>
          </a:prstGeom>
          <a:ln w="19050">
            <a:solidFill>
              <a:srgbClr val="00D6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749808"/>
            <a:ext cx="8412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5D0DC"/>
                </a:solidFill>
                <a:latin typeface="Calibri"/>
              </a:rPr>
              <a:t>Both are gradient boosting ensembles — LightGBM wins with leaf-wise growth</a:t>
            </a:r>
          </a:p>
        </p:txBody>
      </p:sp>
      <p:pic>
        <p:nvPicPr>
          <p:cNvPr id="5" name="Picture 4" descr="confusion_matrix_xgboo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4160520" cy="3108960"/>
          </a:xfrm>
          <a:prstGeom prst="rect">
            <a:avLst/>
          </a:prstGeom>
        </p:spPr>
      </p:pic>
      <p:pic>
        <p:nvPicPr>
          <p:cNvPr id="6" name="Picture 5" descr="confusion_matrix_lightgb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960120"/>
            <a:ext cx="4160520" cy="31089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74320" y="960120"/>
            <a:ext cx="2103120" cy="27432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9601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1628"/>
                </a:solidFill>
                <a:latin typeface="Calibri"/>
              </a:rPr>
              <a:t>XGBoost  F1=0.815</a:t>
            </a:r>
          </a:p>
        </p:txBody>
      </p:sp>
      <p:sp>
        <p:nvSpPr>
          <p:cNvPr id="9" name="Rectangle 8"/>
          <p:cNvSpPr/>
          <p:nvPr/>
        </p:nvSpPr>
        <p:spPr>
          <a:xfrm>
            <a:off x="4709160" y="960120"/>
            <a:ext cx="2331720" cy="274320"/>
          </a:xfrm>
          <a:prstGeom prst="rect">
            <a:avLst/>
          </a:prstGeom>
          <a:solidFill>
            <a:srgbClr val="00D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960120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1628"/>
                </a:solidFill>
                <a:latin typeface="Calibri"/>
              </a:rPr>
              <a:t>LightGBM ★  F1=0.830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4133087"/>
            <a:ext cx="4160520" cy="749808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74320" y="4133087"/>
            <a:ext cx="54864" cy="749808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4169663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A500"/>
                </a:solidFill>
                <a:latin typeface="Calibri"/>
              </a:rPr>
              <a:t>XGBoost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" y="4453128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5D0DC"/>
                </a:solidFill>
                <a:latin typeface="Calibri"/>
              </a:rPr>
              <a:t>Level-wise growth, 2nd-order gradients, exact split search. 300 estimators, lr=0.05, multi:softprob objective.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09159" y="4133087"/>
            <a:ext cx="4160520" cy="749808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709159" y="4133087"/>
            <a:ext cx="54864" cy="749808"/>
          </a:xfrm>
          <a:prstGeom prst="rect">
            <a:avLst/>
          </a:prstGeom>
          <a:solidFill>
            <a:srgbClr val="00D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73751" y="4169663"/>
            <a:ext cx="37490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68F"/>
                </a:solidFill>
                <a:latin typeface="Calibri"/>
              </a:rPr>
              <a:t>LightGBM 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73751" y="4453128"/>
            <a:ext cx="37490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5D0DC"/>
                </a:solidFill>
                <a:latin typeface="Calibri"/>
              </a:rPr>
              <a:t>Leaf-wise growth (deeper branches), GOSS sampling, histogram bins. 10x faster training. Best Macro-F1=0.830.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Model 5 — MLP Neural Network (PyTorch)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713232"/>
            <a:ext cx="8412480" cy="0"/>
          </a:xfrm>
          <a:prstGeom prst="line">
            <a:avLst/>
          </a:prstGeom>
          <a:ln w="19050">
            <a:solidFill>
              <a:srgbClr val="00D6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749808"/>
            <a:ext cx="8412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5D0DC"/>
                </a:solidFill>
                <a:latin typeface="Calibri"/>
              </a:rPr>
              <a:t>4-layer network  ·  BatchNorm  ·  Dropout  ·  Adam optimizer  ·  Early stopping on Colab T4 GPU</a:t>
            </a:r>
          </a:p>
        </p:txBody>
      </p:sp>
      <p:pic>
        <p:nvPicPr>
          <p:cNvPr id="5" name="Picture 4" descr="confusion_matrix_ml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4297680" cy="32004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800600" y="1024128"/>
            <a:ext cx="1051560" cy="384048"/>
          </a:xfrm>
          <a:prstGeom prst="rect">
            <a:avLst/>
          </a:prstGeom>
          <a:solidFill>
            <a:srgbClr val="C5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800600" y="1024128"/>
            <a:ext cx="1051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088136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5D0DC"/>
                </a:solidFill>
                <a:latin typeface="Calibri"/>
              </a:rPr>
              <a:t>46 features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326380" y="1408176"/>
            <a:ext cx="0" cy="237744"/>
          </a:xfrm>
          <a:prstGeom prst="line">
            <a:avLst/>
          </a:prstGeom>
          <a:ln w="12700">
            <a:solidFill>
              <a:srgbClr val="6B7E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4800600" y="1645920"/>
            <a:ext cx="1051560" cy="38404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1645920"/>
            <a:ext cx="1051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Dense 256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1709928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5D0DC"/>
                </a:solidFill>
                <a:latin typeface="Calibri"/>
              </a:rPr>
              <a:t>+ BatchNorm + ReLU + Dropout(0.3)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326380" y="2029968"/>
            <a:ext cx="0" cy="237744"/>
          </a:xfrm>
          <a:prstGeom prst="line">
            <a:avLst/>
          </a:prstGeom>
          <a:ln w="12700">
            <a:solidFill>
              <a:srgbClr val="6B7E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4800600" y="2267712"/>
            <a:ext cx="914400" cy="38404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00600" y="2267712"/>
            <a:ext cx="914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Dense 128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2331720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5D0DC"/>
                </a:solidFill>
                <a:latin typeface="Calibri"/>
              </a:rPr>
              <a:t>+ BatchNorm + ReLU + Dropout(0.3)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257800" y="2651760"/>
            <a:ext cx="0" cy="237744"/>
          </a:xfrm>
          <a:prstGeom prst="line">
            <a:avLst/>
          </a:prstGeom>
          <a:ln w="12700">
            <a:solidFill>
              <a:srgbClr val="6B7E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4800600" y="2889504"/>
            <a:ext cx="777240" cy="384048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00600" y="2889504"/>
            <a:ext cx="777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Dense 64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79" y="2953512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5D0DC"/>
                </a:solidFill>
                <a:latin typeface="Calibri"/>
              </a:rPr>
              <a:t>+ BatchNorm + ReLU + Dropout(0.2)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189220" y="3273552"/>
            <a:ext cx="0" cy="237744"/>
          </a:xfrm>
          <a:prstGeom prst="line">
            <a:avLst/>
          </a:prstGeom>
          <a:ln w="12700">
            <a:solidFill>
              <a:srgbClr val="6B7E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4800600" y="3511296"/>
            <a:ext cx="640080" cy="384048"/>
          </a:xfrm>
          <a:prstGeom prst="rect">
            <a:avLst/>
          </a:prstGeom>
          <a:solidFill>
            <a:srgbClr val="00D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0600" y="3511296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Output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32120" y="3575304"/>
            <a:ext cx="3200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5D0DC"/>
                </a:solidFill>
                <a:latin typeface="Calibri"/>
              </a:rPr>
              <a:t>9 classes  (Softmax)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00600" y="3017520"/>
            <a:ext cx="2011680" cy="1005840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00600" y="3063239"/>
            <a:ext cx="2011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9B59B6"/>
                </a:solidFill>
                <a:latin typeface="Calibri"/>
              </a:rPr>
              <a:t>0.630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00600" y="36393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5D0DC"/>
                </a:solidFill>
                <a:latin typeface="Calibri"/>
              </a:rPr>
              <a:t>Macro-F1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12280" y="3017520"/>
            <a:ext cx="2011680" cy="1005840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12280" y="3063239"/>
            <a:ext cx="2011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A56DB"/>
                </a:solidFill>
                <a:latin typeface="Calibri"/>
              </a:rPr>
              <a:t>0.976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80" y="363931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5D0DC"/>
                </a:solidFill>
                <a:latin typeface="Calibri"/>
              </a:rPr>
              <a:t>ROC-AUC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800600" y="4187952"/>
            <a:ext cx="3977639" cy="658368"/>
          </a:xfrm>
          <a:prstGeom prst="rect">
            <a:avLst/>
          </a:prstGeom>
          <a:solidFill>
            <a:srgbClr val="1A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800600" y="4187952"/>
            <a:ext cx="54864" cy="658368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965192" y="4224528"/>
            <a:ext cx="36118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B59B6"/>
                </a:solidFill>
                <a:latin typeface="Calibri"/>
              </a:rPr>
              <a:t>Surprise finding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65192" y="4480560"/>
            <a:ext cx="3611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5D0DC"/>
                </a:solidFill>
                <a:latin typeface="Calibri"/>
              </a:rPr>
              <a:t>MLP underperforms LightGBM by 20% on Macro-F1 — tabular data favours gradient-boosted trees over deep learning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Model Comparison — All 5 Models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713232"/>
            <a:ext cx="8412480" cy="0"/>
          </a:xfrm>
          <a:prstGeom prst="line">
            <a:avLst/>
          </a:prstGeom>
          <a:ln w="19050">
            <a:solidFill>
              <a:srgbClr val="00D6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749808"/>
            <a:ext cx="8412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5D0DC"/>
                </a:solidFill>
                <a:latin typeface="Calibri"/>
              </a:rPr>
              <a:t>Test set: 102,167 samples  ·  LightGBM selected as production model</a:t>
            </a:r>
          </a:p>
        </p:txBody>
      </p:sp>
      <p:pic>
        <p:nvPicPr>
          <p:cNvPr id="5" name="Picture 4" descr="model_comparison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8595360" cy="32461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74320" y="4297680"/>
            <a:ext cx="2788920" cy="502920"/>
          </a:xfrm>
          <a:prstGeom prst="rect">
            <a:avLst/>
          </a:prstGeom>
          <a:solidFill>
            <a:srgbClr val="162236"/>
          </a:solidFill>
          <a:ln w="6350">
            <a:solidFill>
              <a:srgbClr val="FF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4315968"/>
            <a:ext cx="260604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4757"/>
                </a:solidFill>
                <a:latin typeface="Calibri"/>
              </a:rPr>
              <a:t>LR: linear boundary can't separate IoT attacks</a:t>
            </a:r>
          </a:p>
        </p:txBody>
      </p:sp>
      <p:sp>
        <p:nvSpPr>
          <p:cNvPr id="8" name="Rectangle 7"/>
          <p:cNvSpPr/>
          <p:nvPr/>
        </p:nvSpPr>
        <p:spPr>
          <a:xfrm>
            <a:off x="3172968" y="4297680"/>
            <a:ext cx="2788920" cy="502920"/>
          </a:xfrm>
          <a:prstGeom prst="rect">
            <a:avLst/>
          </a:prstGeom>
          <a:solidFill>
            <a:srgbClr val="162236"/>
          </a:solidFill>
          <a:ln w="6350">
            <a:solidFill>
              <a:srgbClr val="00D6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64408" y="4315968"/>
            <a:ext cx="260604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00D68F"/>
                </a:solidFill>
                <a:latin typeface="Calibri"/>
              </a:rPr>
              <a:t>RF / XGB / LGBM: tree ensembles dominate tabular data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71616" y="4297680"/>
            <a:ext cx="2788920" cy="502920"/>
          </a:xfrm>
          <a:prstGeom prst="rect">
            <a:avLst/>
          </a:prstGeom>
          <a:solidFill>
            <a:srgbClr val="162236"/>
          </a:solidFill>
          <a:ln w="6350">
            <a:solidFill>
              <a:srgbClr val="FF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63055" y="4315968"/>
            <a:ext cx="260604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A500"/>
                </a:solidFill>
                <a:latin typeface="Calibri"/>
              </a:rPr>
              <a:t>MLP: needs more data / tuning for tabular tasks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Drift Monitoring — Is the Model Still Valid?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713232"/>
            <a:ext cx="8412480" cy="0"/>
          </a:xfrm>
          <a:prstGeom prst="line">
            <a:avLst/>
          </a:prstGeom>
          <a:ln w="19050">
            <a:solidFill>
              <a:srgbClr val="00D6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749808"/>
            <a:ext cx="8412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5D0DC"/>
                </a:solidFill>
                <a:latin typeface="Calibri"/>
              </a:rPr>
              <a:t>3 complementary checks: KS test  ·  PSI  ·  3-sigma alert rate monitor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2651760" cy="3200400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54864" cy="32004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80160" y="1051560"/>
            <a:ext cx="777240" cy="77724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1051560"/>
            <a:ext cx="777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nsolas"/>
              </a:rPr>
              <a:t>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1938528"/>
            <a:ext cx="23591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56DB"/>
                </a:solidFill>
                <a:latin typeface="Calibri"/>
              </a:rPr>
              <a:t>KS Drift 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2304288"/>
            <a:ext cx="2359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5D0DC"/>
                </a:solidFill>
                <a:latin typeface="Calibri"/>
              </a:rPr>
              <a:t>Kolmogorov-Smirnov test compares each feature's distribution between training data and new incoming traffic.
p-value &lt; 0.05 means the feature has significantly shifted.
Runs every 500 predictions.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3749039"/>
            <a:ext cx="2331720" cy="25603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" y="3749039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p &lt; 0.05 = DRIFTED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960120"/>
            <a:ext cx="2651760" cy="3200400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0" y="960120"/>
            <a:ext cx="54864" cy="320040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114800" y="1051560"/>
            <a:ext cx="777240" cy="777240"/>
          </a:xfrm>
          <a:prstGeom prst="ellips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0" y="1051560"/>
            <a:ext cx="777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nsolas"/>
              </a:rPr>
              <a:t>PSI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64992" y="1938528"/>
            <a:ext cx="23591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A500"/>
                </a:solidFill>
                <a:latin typeface="Calibri"/>
              </a:rPr>
              <a:t>PSI Score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64992" y="2304288"/>
            <a:ext cx="2359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5D0DC"/>
                </a:solidFill>
                <a:latin typeface="Calibri"/>
              </a:rPr>
              <a:t>Population Stability Index measures distribution shift.
PSI &lt; 0.1   Stable
PSI 0.1-0.2  Moderate change
PSI &gt; 0.2   Significant DRIFT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64992" y="3749039"/>
            <a:ext cx="2331720" cy="256032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64992" y="3749039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PSI &gt; 0.2 = ACTION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35040" y="960120"/>
            <a:ext cx="2651760" cy="3200400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35040" y="960120"/>
            <a:ext cx="54864" cy="3200400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949440" y="1051560"/>
            <a:ext cx="777240" cy="777240"/>
          </a:xfrm>
          <a:prstGeom prst="ellipse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0" y="1051560"/>
            <a:ext cx="777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onsolas"/>
              </a:rPr>
              <a:t>3σ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99632" y="1938528"/>
            <a:ext cx="23591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4757"/>
                </a:solidFill>
                <a:latin typeface="Calibri"/>
              </a:rPr>
              <a:t>Alert Rate Monitor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99632" y="2304288"/>
            <a:ext cx="2359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5D0DC"/>
                </a:solidFill>
                <a:latin typeface="Calibri"/>
              </a:rPr>
              <a:t>Tracks % of traffic flagged as attacks in rolling windows.
Sudden spike = real attack OR model has drifted.
Uses 3-sigma rule: Z-score &gt; 3 triggers CRITICAL warning.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99632" y="3749039"/>
            <a:ext cx="2331720" cy="256032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99632" y="3749039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alibri"/>
              </a:rPr>
              <a:t>Z &gt; 3 = CRITICAL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160520"/>
            <a:ext cx="8412480" cy="621792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206240"/>
            <a:ext cx="8046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D68F"/>
                </a:solidFill>
                <a:latin typeface="Calibri"/>
              </a:rPr>
              <a:t>API Integration: </a:t>
            </a:r>
            <a:r>
              <a:rPr sz="1050" b="0" i="0">
                <a:solidFill>
                  <a:srgbClr val="C5D0DC"/>
                </a:solidFill>
                <a:latin typeface="Calibri"/>
              </a:rPr>
              <a:t>Every /predict call feeds features into DriftMonitor.update()  →  drift checked every 500 calls  →  GET /drift/status returns full PSI + KS report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Live System — FastAPI + Docker Deployment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713232"/>
            <a:ext cx="8412480" cy="0"/>
          </a:xfrm>
          <a:prstGeom prst="line">
            <a:avLst/>
          </a:prstGeom>
          <a:ln w="19050">
            <a:solidFill>
              <a:srgbClr val="00D6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749808"/>
            <a:ext cx="8412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5D0DC"/>
                </a:solidFill>
                <a:latin typeface="Calibri"/>
              </a:rPr>
              <a:t>3-step startup  ·  Swagger UI  ·  5 REST endpoints  ·  Docker Hub image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4023360" cy="2971800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54864" cy="2971800"/>
          </a:xfrm>
          <a:prstGeom prst="rect">
            <a:avLst/>
          </a:prstGeom>
          <a:solidFill>
            <a:srgbClr val="00D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05840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68F"/>
                </a:solidFill>
                <a:latin typeface="Calibri"/>
              </a:rPr>
              <a:t>REST Endpoints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426464"/>
            <a:ext cx="594360" cy="23774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26464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1628"/>
                </a:solidFill>
                <a:latin typeface="Calibri"/>
              </a:rPr>
              <a:t>POST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1426464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nsolas"/>
              </a:rPr>
              <a:t>/predict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1664208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7E94"/>
                </a:solidFill>
                <a:latin typeface="Calibri"/>
              </a:rPr>
              <a:t>Classify single flow → label + confidence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920240"/>
            <a:ext cx="594360" cy="23774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920240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1628"/>
                </a:solidFill>
                <a:latin typeface="Calibri"/>
              </a:rPr>
              <a:t>POST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7008" y="1920240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nsolas"/>
              </a:rPr>
              <a:t>/predict/batch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8" y="2157984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7E94"/>
                </a:solidFill>
                <a:latin typeface="Calibri"/>
              </a:rPr>
              <a:t>Classify multiple flows at once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414016"/>
            <a:ext cx="594360" cy="237744"/>
          </a:xfrm>
          <a:prstGeom prst="rect">
            <a:avLst/>
          </a:prstGeom>
          <a:solidFill>
            <a:srgbClr val="00D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2414016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1628"/>
                </a:solidFill>
                <a:latin typeface="Calibri"/>
              </a:rPr>
              <a:t>GET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8" y="2414016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nsolas"/>
              </a:rPr>
              <a:t>/drift/status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7008" y="2651760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7E94"/>
                </a:solidFill>
                <a:latin typeface="Calibri"/>
              </a:rPr>
              <a:t>PSI + KS drift report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907792"/>
            <a:ext cx="594360" cy="237744"/>
          </a:xfrm>
          <a:prstGeom prst="rect">
            <a:avLst/>
          </a:prstGeom>
          <a:solidFill>
            <a:srgbClr val="00D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907792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1628"/>
                </a:solidFill>
                <a:latin typeface="Calibri"/>
              </a:rPr>
              <a:t>GET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07008" y="2907792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nsolas"/>
              </a:rPr>
              <a:t>/health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07008" y="3145536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7E94"/>
                </a:solidFill>
                <a:latin typeface="Calibri"/>
              </a:rPr>
              <a:t>Liveness check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401568"/>
            <a:ext cx="594360" cy="237744"/>
          </a:xfrm>
          <a:prstGeom prst="rect">
            <a:avLst/>
          </a:prstGeom>
          <a:solidFill>
            <a:srgbClr val="00D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401568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1628"/>
                </a:solidFill>
                <a:latin typeface="Calibri"/>
              </a:rPr>
              <a:t>GET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07008" y="3401568"/>
            <a:ext cx="14173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onsolas"/>
              </a:rPr>
              <a:t>/docs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07008" y="3639312"/>
            <a:ext cx="3017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7E94"/>
                </a:solidFill>
                <a:latin typeface="Calibri"/>
              </a:rPr>
              <a:t>Interactive Swagger UI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17720" y="960120"/>
            <a:ext cx="4114800" cy="2971800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617720" y="960120"/>
            <a:ext cx="54864" cy="29718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00600" y="1005840"/>
            <a:ext cx="374903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56DB"/>
                </a:solidFill>
                <a:latin typeface="Calibri"/>
              </a:rPr>
              <a:t>Start in 3 Steps</a:t>
            </a:r>
          </a:p>
        </p:txBody>
      </p:sp>
      <p:sp>
        <p:nvSpPr>
          <p:cNvPr id="31" name="Oval 30"/>
          <p:cNvSpPr/>
          <p:nvPr/>
        </p:nvSpPr>
        <p:spPr>
          <a:xfrm>
            <a:off x="4800600" y="1426464"/>
            <a:ext cx="329184" cy="329184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00600" y="1426464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2080" y="1463040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5D0DC"/>
                </a:solidFill>
                <a:latin typeface="Consolas"/>
              </a:rPr>
              <a:t>git clone  github.com/…/cybersecurity</a:t>
            </a:r>
          </a:p>
        </p:txBody>
      </p:sp>
      <p:sp>
        <p:nvSpPr>
          <p:cNvPr id="34" name="Oval 33"/>
          <p:cNvSpPr/>
          <p:nvPr/>
        </p:nvSpPr>
        <p:spPr>
          <a:xfrm>
            <a:off x="4800600" y="1901952"/>
            <a:ext cx="329184" cy="329184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00600" y="1901952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212080" y="1938528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5D0DC"/>
                </a:solidFill>
                <a:latin typeface="Consolas"/>
              </a:rPr>
              <a:t>pip install -r requirements.txt</a:t>
            </a:r>
          </a:p>
        </p:txBody>
      </p:sp>
      <p:sp>
        <p:nvSpPr>
          <p:cNvPr id="37" name="Oval 36"/>
          <p:cNvSpPr/>
          <p:nvPr/>
        </p:nvSpPr>
        <p:spPr>
          <a:xfrm>
            <a:off x="4800600" y="2377440"/>
            <a:ext cx="329184" cy="329184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00600" y="2377440"/>
            <a:ext cx="32918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12080" y="2414016"/>
            <a:ext cx="3383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68F"/>
                </a:solidFill>
                <a:latin typeface="Consolas"/>
              </a:rPr>
              <a:t>py -3.10 -m uvicorn src.api:app --port 8000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800600" y="2907792"/>
            <a:ext cx="3840480" cy="0"/>
          </a:xfrm>
          <a:prstGeom prst="line">
            <a:avLst/>
          </a:prstGeom>
          <a:ln w="6350">
            <a:solidFill>
              <a:srgbClr val="6B7E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800600" y="2944368"/>
            <a:ext cx="3749039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A500"/>
                </a:solidFill>
                <a:latin typeface="Calibri"/>
              </a:rPr>
              <a:t>Or with Docker: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00600" y="320040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5D0DC"/>
                </a:solidFill>
                <a:latin typeface="Consolas"/>
              </a:rPr>
              <a:t>docker pull &lt;username&gt;/iot-ids:latest
docker run -p 8000:8000 &lt;username&gt;/iot-ids:latest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4005072"/>
            <a:ext cx="8412480" cy="795528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48640" y="4059936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68F"/>
                </a:solidFill>
                <a:latin typeface="Calibri"/>
              </a:rPr>
              <a:t>Example response: </a:t>
            </a:r>
            <a:r>
              <a:rPr sz="1000" b="0" i="0">
                <a:solidFill>
                  <a:srgbClr val="C5D0DC"/>
                </a:solidFill>
                <a:latin typeface="Calibri"/>
              </a:rPr>
              <a:t>{ "label": "DDoS", "confidence": 0.9997, "model_used": "LightGBM", "probabilities": {"DDoS": 0.9997, ...} 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2651760" cy="1810512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960120"/>
            <a:ext cx="54864" cy="1810512"/>
          </a:xfrm>
          <a:prstGeom prst="rect">
            <a:avLst/>
          </a:prstGeom>
          <a:solidFill>
            <a:srgbClr val="00D6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051560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D68F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143560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Trees beat deep learning on tabular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801368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5D0DC"/>
                </a:solidFill>
                <a:latin typeface="Calibri"/>
              </a:rPr>
              <a:t>LightGBM outperforms a 4-layer PyTorch MLP by 20% Macro-F1. Tabular IoT features don't benefit from raw neural feature learning — gradient boosting wins.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960120"/>
            <a:ext cx="2651760" cy="1810512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0" y="960120"/>
            <a:ext cx="54864" cy="1810512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4992" y="1051560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A500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64992" y="143560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Imbalance must be fixed, not ignored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64992" y="1801368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5D0DC"/>
                </a:solidFill>
                <a:latin typeface="Calibri"/>
              </a:rPr>
              <a:t>SMOTE + class_weight='balanced' prevents the model collapsing to majority class. Without it, rare attacks like DictionaryBruteForce are invisible.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960120"/>
            <a:ext cx="2651760" cy="1810512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960120"/>
            <a:ext cx="54864" cy="1810512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99632" y="1051560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4757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9632" y="1435608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Accuracy is a misleading metric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99632" y="1801368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5D0DC"/>
                </a:solidFill>
                <a:latin typeface="Calibri"/>
              </a:rPr>
              <a:t>A model predicting 'Benign' every time scores 83% accuracy but catches zero attacks. Macro-F1 is the honest metric for imbalanced multi-class problems.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898648"/>
            <a:ext cx="2651760" cy="1810512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2898648"/>
            <a:ext cx="54864" cy="1810512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30352" y="2990088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56DB"/>
                </a:solidFill>
                <a:latin typeface="Calibr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0352" y="3374136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Drift monitoring is production-critical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3739896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5D0DC"/>
                </a:solidFill>
                <a:latin typeface="Calibri"/>
              </a:rPr>
              <a:t>KS test + PSI + 3-sigma alert rate catches both feature distribution shifts and sudden attack spikes automatically every 500 predictions.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0" y="2898648"/>
            <a:ext cx="2651760" cy="1810512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0" y="2898648"/>
            <a:ext cx="54864" cy="1810512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64992" y="2990088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9B59B6"/>
                </a:solidFill>
                <a:latin typeface="Calibri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64992" y="3374136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End-to-end: CSV to live API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64992" y="3739896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5D0DC"/>
                </a:solidFill>
                <a:latin typeface="Calibri"/>
              </a:rPr>
              <a:t>Full pipeline: raw CSV → label mapping → SMOTE → 5 trained models → FastAPI → Docker → /drift/status in production. Ready to demo.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0" y="2898648"/>
            <a:ext cx="2651760" cy="1810512"/>
          </a:xfrm>
          <a:prstGeom prst="rect">
            <a:avLst/>
          </a:prstGeom>
          <a:solidFill>
            <a:srgbClr val="1622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35040" y="2898648"/>
            <a:ext cx="54864" cy="1810512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99632" y="2990088"/>
            <a:ext cx="502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3498DB"/>
                </a:solidFill>
                <a:latin typeface="Calibri"/>
              </a:rPr>
              <a:t>06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99632" y="3374136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Temporal split prevents data leakage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99632" y="3739896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5D0DC"/>
                </a:solidFill>
                <a:latin typeface="Calibri"/>
              </a:rPr>
              <a:t>Splitting by row order (time proxy) ensures the model is evaluated on 'future' traffic — not shuffled training data sneaking into the test set.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